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MAE, days</c:v>
                </c:pt>
              </c:strCache>
            </c:strRef>
          </c:tx>
          <c:dPt>
            <c:idx val="0"/>
            <c:spPr>
              <a:solidFill>
                <a:srgbClr val="0F766E"/>
              </a:solidFill>
            </c:spPr>
          </c:dPt>
          <c:dPt>
            <c:idx val="1"/>
            <c:spPr>
              <a:solidFill>
                <a:srgbClr val="B8C2D0"/>
              </a:solidFill>
            </c:spPr>
          </c:dPt>
          <c:cat>
            <c:strRef>
              <c:f>Sheet1!$A$2:$A$3</c:f>
              <c:strCache>
                <c:ptCount val="2"/>
                <c:pt idx="0">
                  <c:v>Model</c:v>
                </c:pt>
                <c:pt idx="1">
                  <c:v>Peer-group lookup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76</c:v>
                </c:pt>
                <c:pt idx="1">
                  <c:v>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2400" b="1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D0"/>
            </a:solidFill>
          </a:ln>
        </c:spPr>
        <c:txPr>
          <a:bodyPr/>
          <a:lstStyle/>
          <a:p>
            <a:pPr>
              <a:defRPr sz="1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solidFill>
            <a:srgbClr val="1F293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1 minute.</a:t>
            </a:r>
          </a:p>
          <a:p>
            <a:r>
              <a:t>- One sentence on the problem: the registry says what happened, notices say how, completion reports say why, and they sit in three places that nobody joins at planning time.</a:t>
            </a:r>
          </a:p>
          <a:p>
            <a:r>
              <a:t>- I built it, not only designed it: everything runs on Azure Databricks on real public World Bank data.</a:t>
            </a:r>
          </a:p>
          <a:p>
            <a:r>
              <a:t>- Plan for the next 15 minutes: architecture, data model, engines, evaluation, limits, then a short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2 minutes.</a:t>
            </a:r>
          </a:p>
          <a:p>
            <a:r>
              <a:t>- Walk left to right once: sources, bronze with idempotent MERGE loads, a keyed silver model, gold tables and the graph, then the engines and the users.</a:t>
            </a:r>
          </a:p>
          <a:p>
            <a:r>
              <a:t>- Dashed boxes are designed but not built or not public: amendments, CPIA, and the user feedback loop that starts in the pilot.</a:t>
            </a:r>
          </a:p>
          <a:p>
            <a:r>
              <a:t>- The daily loop is proven on a replay: an incremental graph update equals a full rebuild, row for row. The daily job is defined but paused until the shadow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2.5 minutes.</a:t>
            </a:r>
          </a:p>
          <a:p>
            <a:r>
              <a:t>- Grain and keys first: one row per contract; joint-venture members live in a bridge table, because the feed repeats the full value on every member's row.</a:t>
            </a:r>
          </a:p>
          <a:p>
            <a:r>
              <a:t>- Entity resolution: block by country, TF-IDF character trigrams, rules that stop chaining (for example common personal names get no name links).</a:t>
            </a:r>
          </a:p>
          <a:p>
            <a:r>
              <a:t>- Graph in Delta, not a graph database: the questions are batch, two to four hops, and one copy keeps one set of permissions and lineage.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3 minutes.</a:t>
            </a:r>
          </a:p>
          <a:p>
            <a:r>
              <a:t>- Duration model: the feed starts in FY2020, so it trains only on cohorts it can fully observe. LightGBM quantiles plus a conformal step, because raw intervals covered 68% instead of 80%.</a:t>
            </a:r>
          </a:p>
          <a:p>
            <a:r>
              <a:t>- Agent: the LLM plans, retrieves and writes; statistics come from the benchmark table or the registered model, never from the LLM.</a:t>
            </a:r>
          </a:p>
          <a:p>
            <a:r>
              <a:t>- Validation is code that runs whatever the model writes: unknown ids dropped, timeline numbers must equal the cited record, counts and methods checked against facts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3.5 minutes.</a:t>
            </a:r>
          </a:p>
          <a:p>
            <a:r>
              <a:t>- Backtest: 300 real tenders replayed on their notice date with everything later hidden. The deployed champion scores 50 days in-sample, which is a leak, so every evaluation refits at the cutoff.</a:t>
            </a:r>
          </a:p>
          <a:p>
            <a:r>
              <a:t>- Fact-check, said carefully: the like-for-like baseline is also 5 of 30, on different briefs, and the gain combines facts lines, the writer rule, reasoning mode and the check. The holdout was never used for tuning.</a:t>
            </a:r>
          </a:p>
          <a:p>
            <a:r>
              <a:t>- Labels: no person labelled items. Code decides what it can, three judges from different model families do the rest, an AI adjudicator settles disagreements with written evidence. Conflicts: the source depends on the question, and both sides are always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1.5 minutes.</a:t>
            </a:r>
          </a:p>
          <a:p>
            <a:r>
              <a:t>- Say the gaps plainly; each one has a stated workaround in data_gaps.md.</a:t>
            </a:r>
          </a:p>
          <a:p>
            <a:r>
              <a:t>- Small samples: one brief moves the holdout rate by about 10 points, so treat these as early evidence.</a:t>
            </a:r>
          </a:p>
          <a:p>
            <a:r>
              <a:t>- The pilot is gated: shadow mode first, and the trust KPIs must pass before any user sees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Demo, about 3 to 4 minutes, then questions.</a:t>
            </a:r>
          </a:p>
          <a:p>
            <a:r>
              <a:t>- Enter a new package (country, category, method, description) and run the agent.</a:t>
            </a:r>
          </a:p>
          <a:p>
            <a:r>
              <a:t>- Show the tool calls, then the brief, then open one cited record to prove the citation resolves to a row.</a:t>
            </a:r>
          </a:p>
          <a:p>
            <a:r>
              <a:t>- Fallback if the endpoint is slow: the executed p08 notebook and the review briefs in data/human_review/.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habadVaswani/worldbank-procurement-intelligence" TargetMode="Externa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Procurement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CADCF0"/>
                </a:solidFill>
                <a:latin typeface="Calibri"/>
              </a:rPr>
              <a:t>Planning teams have contracts, notices and project-document lessons in separate places. This joins them into one cited planning brief.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46120"/>
            <a:ext cx="27432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2200" b="1">
                <a:solidFill>
                  <a:srgbClr val="1F3A5F"/>
                </a:solidFill>
                <a:latin typeface="Calibri"/>
              </a:rPr>
              <a:t>Contracts</a:t>
            </a:r>
          </a:p>
          <a:p>
            <a:pPr algn="ctr"/>
            <a:r>
              <a:rPr sz="1800" b="0">
                <a:solidFill>
                  <a:srgbClr val="1F2937"/>
                </a:solidFill>
                <a:latin typeface="Calibri"/>
              </a:rPr>
              <a:t>what happened</a:t>
            </a:r>
          </a:p>
          <a:p>
            <a:pPr algn="ctr"/>
            <a:r>
              <a:rPr sz="1800" b="1">
                <a:solidFill>
                  <a:srgbClr val="0F766E"/>
                </a:solidFill>
                <a:latin typeface="Calibri"/>
              </a:rPr>
              <a:t>282,890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511296" y="3867911"/>
            <a:ext cx="246887" cy="0"/>
          </a:xfrm>
          <a:prstGeom prst="line">
            <a:avLst/>
          </a:prstGeom>
          <a:ln w="31750">
            <a:solidFill>
              <a:srgbClr val="CADC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794760" y="3246120"/>
            <a:ext cx="27432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2200" b="1">
                <a:solidFill>
                  <a:srgbClr val="1F3A5F"/>
                </a:solidFill>
                <a:latin typeface="Calibri"/>
              </a:rPr>
              <a:t>Notices</a:t>
            </a:r>
          </a:p>
          <a:p>
            <a:pPr algn="ctr"/>
            <a:r>
              <a:rPr sz="1800" b="0">
                <a:solidFill>
                  <a:srgbClr val="1F2937"/>
                </a:solidFill>
                <a:latin typeface="Calibri"/>
              </a:rPr>
              <a:t>how it was tendered</a:t>
            </a:r>
          </a:p>
          <a:p>
            <a:pPr algn="ctr"/>
            <a:r>
              <a:rPr sz="1800" b="1">
                <a:solidFill>
                  <a:srgbClr val="0F766E"/>
                </a:solidFill>
                <a:latin typeface="Calibri"/>
              </a:rPr>
              <a:t>379,820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74536" y="3867911"/>
            <a:ext cx="246888" cy="0"/>
          </a:xfrm>
          <a:prstGeom prst="line">
            <a:avLst/>
          </a:prstGeom>
          <a:ln w="31750">
            <a:solidFill>
              <a:srgbClr val="CADC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58000" y="3246120"/>
            <a:ext cx="27432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2200" b="1">
                <a:solidFill>
                  <a:srgbClr val="1F3A5F"/>
                </a:solidFill>
                <a:latin typeface="Calibri"/>
              </a:rPr>
              <a:t>Project documents</a:t>
            </a:r>
          </a:p>
          <a:p>
            <a:pPr algn="ctr"/>
            <a:r>
              <a:rPr sz="1800" b="0">
                <a:solidFill>
                  <a:srgbClr val="1F2937"/>
                </a:solidFill>
                <a:latin typeface="Calibri"/>
              </a:rPr>
              <a:t>why it worked or failed</a:t>
            </a:r>
          </a:p>
          <a:p>
            <a:pPr algn="ctr"/>
            <a:r>
              <a:rPr sz="1800" b="1">
                <a:solidFill>
                  <a:srgbClr val="0F766E"/>
                </a:solidFill>
                <a:latin typeface="Calibri"/>
              </a:rPr>
              <a:t>21,118 passages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637776" y="3867911"/>
            <a:ext cx="246888" cy="0"/>
          </a:xfrm>
          <a:prstGeom prst="line">
            <a:avLst/>
          </a:prstGeom>
          <a:ln w="31750">
            <a:solidFill>
              <a:srgbClr val="CADC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921240" y="3246120"/>
            <a:ext cx="1600200" cy="123444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Cited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74920"/>
            <a:ext cx="10698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Shabad Vaswani  |  AI Engineer interview, World Bank  |  27 October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32120"/>
            <a:ext cx="10698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ADCF0"/>
                </a:solidFill>
                <a:latin typeface="Calibri"/>
              </a:rPr>
              <a:t>A working prototype on real World Bank open data, built on Azure Databricks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A5F"/>
                </a:solidFill>
                <a:latin typeface="Calibri"/>
              </a:rPr>
              <a:t>Architecture: one governed copy, from sources to users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96112"/>
            <a:ext cx="1127455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B6472"/>
                </a:solidFill>
                <a:latin typeface="Calibri"/>
              </a:rPr>
              <a:t>Files, tables, graph, embeddings and models all live in the lakehouse under Unity Catalog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650492" cy="3456432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1587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527048"/>
            <a:ext cx="16504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1F3A5F"/>
                </a:solidFill>
                <a:latin typeface="Calibri"/>
              </a:rPr>
              <a:t>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" y="1965960"/>
            <a:ext cx="1522476" cy="603504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2937"/>
                </a:solidFill>
                <a:latin typeface="Calibri"/>
              </a:rPr>
              <a:t>Awards + notices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" y="2688336"/>
            <a:ext cx="1522476" cy="603504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2937"/>
                </a:solidFill>
                <a:latin typeface="Calibri"/>
              </a:rPr>
              <a:t>Projects + ISRs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3410712"/>
            <a:ext cx="1522476" cy="603504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2937"/>
                </a:solidFill>
                <a:latin typeface="Calibri"/>
              </a:rPr>
              <a:t>PAD, ICR, IEG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" y="4133088"/>
            <a:ext cx="1522476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5B6472"/>
                </a:solidFill>
                <a:latin typeface="Calibri"/>
              </a:rPr>
              <a:t>Amendments, CPIA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25979" y="3191256"/>
            <a:ext cx="237744" cy="0"/>
          </a:xfrm>
          <a:prstGeom prst="line">
            <a:avLst/>
          </a:prstGeom>
          <a:ln w="31750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82012" y="1463040"/>
            <a:ext cx="1650492" cy="3456432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1587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382012" y="1527048"/>
            <a:ext cx="16504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1F3A5F"/>
                </a:solidFill>
                <a:latin typeface="Calibri"/>
              </a:rPr>
              <a:t>Bronze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46020" y="1965960"/>
            <a:ext cx="1522476" cy="603504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2937"/>
                </a:solidFill>
                <a:latin typeface="Calibri"/>
              </a:rPr>
              <a:t>Raw page 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46020" y="2688336"/>
            <a:ext cx="1522476" cy="603504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2937"/>
                </a:solidFill>
                <a:latin typeface="Calibri"/>
              </a:rPr>
              <a:t>MERGE + row hash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46020" y="3410712"/>
            <a:ext cx="1522476" cy="603504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2937"/>
                </a:solidFill>
                <a:latin typeface="Calibri"/>
              </a:rPr>
              <a:t>Change Data Feed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46020" y="4133088"/>
            <a:ext cx="1522476" cy="603504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2937"/>
                </a:solidFill>
                <a:latin typeface="Calibri"/>
              </a:rPr>
              <a:t>PDF layout parser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50791" y="3191256"/>
            <a:ext cx="237745" cy="0"/>
          </a:xfrm>
          <a:prstGeom prst="line">
            <a:avLst/>
          </a:prstGeom>
          <a:ln w="31750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06824" y="1463040"/>
            <a:ext cx="1650492" cy="3456432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1587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306824" y="1527048"/>
            <a:ext cx="16504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1F3A5F"/>
                </a:solidFill>
                <a:latin typeface="Calibri"/>
              </a:rPr>
              <a:t>Silver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1965960"/>
            <a:ext cx="1522476" cy="603504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2937"/>
                </a:solidFill>
                <a:latin typeface="Calibri"/>
              </a:rPr>
              <a:t>Keyed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2688336"/>
            <a:ext cx="1522476" cy="603504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2937"/>
                </a:solidFill>
                <a:latin typeface="Calibri"/>
              </a:rPr>
              <a:t>Entity resolution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3410712"/>
            <a:ext cx="1522476" cy="603504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2937"/>
                </a:solidFill>
                <a:latin typeface="Calibri"/>
              </a:rPr>
              <a:t>Notice-contract links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4133088"/>
            <a:ext cx="1522476" cy="603504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2937"/>
                </a:solidFill>
                <a:latin typeface="Calibri"/>
              </a:rPr>
              <a:t>Doc passages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75603" y="3191256"/>
            <a:ext cx="237745" cy="0"/>
          </a:xfrm>
          <a:prstGeom prst="line">
            <a:avLst/>
          </a:prstGeom>
          <a:ln w="31750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31636" y="1463040"/>
            <a:ext cx="1650492" cy="3456432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1587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31636" y="1527048"/>
            <a:ext cx="16504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1F3A5F"/>
                </a:solidFill>
                <a:latin typeface="Calibri"/>
              </a:rPr>
              <a:t>Gold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5644" y="1965960"/>
            <a:ext cx="1522476" cy="603504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2937"/>
                </a:solidFill>
                <a:latin typeface="Calibri"/>
              </a:rPr>
              <a:t>Tender timelines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5644" y="2688336"/>
            <a:ext cx="1522476" cy="603504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2937"/>
                </a:solidFill>
                <a:latin typeface="Calibri"/>
              </a:rPr>
              <a:t>Knowledge graph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95644" y="3410712"/>
            <a:ext cx="1522476" cy="603504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2937"/>
                </a:solidFill>
                <a:latin typeface="Calibri"/>
              </a:rPr>
              <a:t>Benchmarks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95644" y="4133088"/>
            <a:ext cx="1522476" cy="603504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2937"/>
                </a:solidFill>
                <a:latin typeface="Calibri"/>
              </a:rPr>
              <a:t>Early warnings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00415" y="3191256"/>
            <a:ext cx="237745" cy="0"/>
          </a:xfrm>
          <a:prstGeom prst="line">
            <a:avLst/>
          </a:prstGeom>
          <a:ln w="31750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56448" y="1463040"/>
            <a:ext cx="1650492" cy="3456432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1587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156448" y="1527048"/>
            <a:ext cx="16504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1F3A5F"/>
                </a:solidFill>
                <a:latin typeface="Calibri"/>
              </a:rPr>
              <a:t>Engines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0456" y="1965960"/>
            <a:ext cx="1522476" cy="603504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2937"/>
                </a:solidFill>
                <a:latin typeface="Calibri"/>
              </a:rPr>
              <a:t>Duration model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0456" y="2688336"/>
            <a:ext cx="1522476" cy="603504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2937"/>
                </a:solidFill>
                <a:latin typeface="Calibri"/>
              </a:rPr>
              <a:t>Cited agent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0456" y="3410712"/>
            <a:ext cx="1522476" cy="603504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2937"/>
                </a:solidFill>
                <a:latin typeface="Calibri"/>
              </a:rPr>
              <a:t>Evidence resolver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0456" y="4133088"/>
            <a:ext cx="1522476" cy="603504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2937"/>
                </a:solidFill>
                <a:latin typeface="Calibri"/>
              </a:rPr>
              <a:t>Tender checks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825228" y="3191256"/>
            <a:ext cx="237744" cy="0"/>
          </a:xfrm>
          <a:prstGeom prst="line">
            <a:avLst/>
          </a:prstGeom>
          <a:ln w="31750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0081260" y="1463040"/>
            <a:ext cx="1650492" cy="3456432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1587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0081260" y="1527048"/>
            <a:ext cx="16504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1F3A5F"/>
                </a:solidFill>
                <a:latin typeface="Calibri"/>
              </a:rPr>
              <a:t>Users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45268" y="1965960"/>
            <a:ext cx="1522476" cy="603504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2937"/>
                </a:solidFill>
                <a:latin typeface="Calibri"/>
              </a:rPr>
              <a:t>Cited brief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45268" y="2688336"/>
            <a:ext cx="1522476" cy="603504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2937"/>
                </a:solidFill>
                <a:latin typeface="Calibri"/>
              </a:rPr>
              <a:t>Risk flags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45268" y="3410712"/>
            <a:ext cx="1522476" cy="603504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2937"/>
                </a:solidFill>
                <a:latin typeface="Calibri"/>
              </a:rPr>
              <a:t>KPIs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45268" y="4133088"/>
            <a:ext cx="1522476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5B6472"/>
                </a:solidFill>
                <a:latin typeface="Calibri"/>
              </a:rPr>
              <a:t>User feedback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906506" y="4919472"/>
            <a:ext cx="0" cy="292608"/>
          </a:xfrm>
          <a:prstGeom prst="line">
            <a:avLst/>
          </a:prstGeom>
          <a:ln w="317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3207258" y="5212080"/>
            <a:ext cx="7699248" cy="0"/>
          </a:xfrm>
          <a:prstGeom prst="line">
            <a:avLst/>
          </a:prstGeom>
          <a:ln w="317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207258" y="4937760"/>
            <a:ext cx="0" cy="274320"/>
          </a:xfrm>
          <a:prstGeom prst="line">
            <a:avLst/>
          </a:prstGeom>
          <a:ln w="3175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57200" y="5266944"/>
            <a:ext cx="11274552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F766E"/>
                </a:solidFill>
                <a:latin typeface="Calibri"/>
              </a:rPr>
              <a:t>Daily loop: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changed rows only, the graph updated by one MERGE, drift checks, champion/challenger gate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788152"/>
            <a:ext cx="2715768" cy="50292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Unity Catalog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310128" y="5788152"/>
            <a:ext cx="2715768" cy="50292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MLflow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63056" y="5788152"/>
            <a:ext cx="2715768" cy="50292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Workflows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15984" y="5788152"/>
            <a:ext cx="2715768" cy="50292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Model Serving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52560" y="969264"/>
            <a:ext cx="292608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9400032" y="896112"/>
            <a:ext cx="23774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designed, not built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2823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Procurement Intelligence Platform  |  Shabad Vaswani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17352" y="6428232"/>
            <a:ext cx="9144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A5F"/>
                </a:solidFill>
                <a:latin typeface="Calibri"/>
              </a:rPr>
              <a:t>A keyed data model, and a knowledge graph built from it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96112"/>
            <a:ext cx="1127455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B6472"/>
                </a:solidFill>
                <a:latin typeface="Calibri"/>
              </a:rPr>
              <a:t>Grain and keys first; every graph edge comes from a key that was checked</a:t>
            </a:r>
          </a:p>
        </p:txBody>
      </p:sp>
      <p:sp>
        <p:nvSpPr>
          <p:cNvPr id="4" name="node_country"/>
          <p:cNvSpPr/>
          <p:nvPr/>
        </p:nvSpPr>
        <p:spPr>
          <a:xfrm>
            <a:off x="2743200" y="1600200"/>
            <a:ext cx="1783080" cy="77724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country</a:t>
            </a:r>
          </a:p>
          <a:p>
            <a:pPr algn="ctr"/>
            <a:r>
              <a:rPr sz="1600" b="0">
                <a:solidFill>
                  <a:srgbClr val="CADCF0"/>
                </a:solidFill>
                <a:latin typeface="Calibri"/>
              </a:rPr>
              <a:t>246</a:t>
            </a:r>
          </a:p>
        </p:txBody>
      </p:sp>
      <p:sp>
        <p:nvSpPr>
          <p:cNvPr id="5" name="node_firm"/>
          <p:cNvSpPr/>
          <p:nvPr/>
        </p:nvSpPr>
        <p:spPr>
          <a:xfrm>
            <a:off x="6035040" y="1600200"/>
            <a:ext cx="1783080" cy="77724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supplier firm</a:t>
            </a:r>
          </a:p>
          <a:p>
            <a:pPr algn="ctr"/>
            <a:r>
              <a:rPr sz="1600" b="0">
                <a:solidFill>
                  <a:srgbClr val="CADCF0"/>
                </a:solidFill>
                <a:latin typeface="Calibri"/>
              </a:rPr>
              <a:t>316,398 entities</a:t>
            </a:r>
          </a:p>
        </p:txBody>
      </p:sp>
      <p:sp>
        <p:nvSpPr>
          <p:cNvPr id="6" name="node_passage"/>
          <p:cNvSpPr/>
          <p:nvPr/>
        </p:nvSpPr>
        <p:spPr>
          <a:xfrm>
            <a:off x="457200" y="3200400"/>
            <a:ext cx="1783080" cy="77724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passage</a:t>
            </a:r>
          </a:p>
          <a:p>
            <a:pPr algn="ctr"/>
            <a:r>
              <a:rPr sz="1600" b="0">
                <a:solidFill>
                  <a:srgbClr val="CADCF0"/>
                </a:solidFill>
                <a:latin typeface="Calibri"/>
              </a:rPr>
              <a:t>43,340</a:t>
            </a:r>
          </a:p>
        </p:txBody>
      </p:sp>
      <p:sp>
        <p:nvSpPr>
          <p:cNvPr id="7" name="node_project"/>
          <p:cNvSpPr/>
          <p:nvPr/>
        </p:nvSpPr>
        <p:spPr>
          <a:xfrm>
            <a:off x="2743200" y="3200400"/>
            <a:ext cx="1783080" cy="77724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project</a:t>
            </a:r>
          </a:p>
          <a:p>
            <a:pPr algn="ctr"/>
            <a:r>
              <a:rPr sz="1600" b="0">
                <a:solidFill>
                  <a:srgbClr val="CADCF0"/>
                </a:solidFill>
                <a:latin typeface="Calibri"/>
              </a:rPr>
              <a:t>3,768</a:t>
            </a:r>
          </a:p>
        </p:txBody>
      </p:sp>
      <p:sp>
        <p:nvSpPr>
          <p:cNvPr id="8" name="node_contract"/>
          <p:cNvSpPr/>
          <p:nvPr/>
        </p:nvSpPr>
        <p:spPr>
          <a:xfrm>
            <a:off x="6035040" y="3200400"/>
            <a:ext cx="1783080" cy="77724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contract</a:t>
            </a:r>
          </a:p>
          <a:p>
            <a:pPr algn="ctr"/>
            <a:r>
              <a:rPr sz="1600" b="0">
                <a:solidFill>
                  <a:srgbClr val="CADCF0"/>
                </a:solidFill>
                <a:latin typeface="Calibri"/>
              </a:rPr>
              <a:t>282,890</a:t>
            </a:r>
          </a:p>
        </p:txBody>
      </p:sp>
      <p:sp>
        <p:nvSpPr>
          <p:cNvPr id="9" name="node_notice"/>
          <p:cNvSpPr/>
          <p:nvPr/>
        </p:nvSpPr>
        <p:spPr>
          <a:xfrm>
            <a:off x="4389120" y="4800600"/>
            <a:ext cx="1783080" cy="77724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notice</a:t>
            </a:r>
          </a:p>
          <a:p>
            <a:pPr algn="ctr"/>
            <a:r>
              <a:rPr sz="1600" b="0">
                <a:solidFill>
                  <a:srgbClr val="CADCF0"/>
                </a:solidFill>
                <a:latin typeface="Calibri"/>
              </a:rPr>
              <a:t>379,820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40280" y="3589020"/>
            <a:ext cx="502920" cy="0"/>
          </a:xfrm>
          <a:prstGeom prst="line">
            <a:avLst/>
          </a:prstGeom>
          <a:ln w="28575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92807" y="2834640"/>
            <a:ext cx="128016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DESCRIBES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634740" y="2377440"/>
            <a:ext cx="0" cy="822960"/>
          </a:xfrm>
          <a:prstGeom prst="line">
            <a:avLst/>
          </a:prstGeom>
          <a:ln w="28575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721608" y="2633472"/>
            <a:ext cx="132588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IN_COUNTRY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526280" y="3589020"/>
            <a:ext cx="1508760" cy="0"/>
          </a:xfrm>
          <a:prstGeom prst="line">
            <a:avLst/>
          </a:prstGeom>
          <a:ln w="28575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54880" y="3200400"/>
            <a:ext cx="109728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PART_OF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926579" y="2377440"/>
            <a:ext cx="0" cy="822960"/>
          </a:xfrm>
          <a:prstGeom prst="line">
            <a:avLst/>
          </a:prstGeom>
          <a:ln w="28575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13248" y="2633472"/>
            <a:ext cx="146304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AWARDED_TO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4526280" y="1988819"/>
            <a:ext cx="1508760" cy="0"/>
          </a:xfrm>
          <a:prstGeom prst="line">
            <a:avLst/>
          </a:prstGeom>
          <a:ln w="28575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44568" y="2011680"/>
            <a:ext cx="1536192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REGISTERED_IN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4160520" y="3977639"/>
            <a:ext cx="594360" cy="822961"/>
          </a:xfrm>
          <a:prstGeom prst="line">
            <a:avLst/>
          </a:prstGeom>
          <a:ln w="28575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697480" y="4224528"/>
            <a:ext cx="146304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FOR_PROJECT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5806440" y="3977639"/>
            <a:ext cx="594360" cy="822961"/>
          </a:xfrm>
          <a:prstGeom prst="line">
            <a:avLst/>
          </a:prstGeom>
          <a:ln w="28575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355080" y="4224528"/>
            <a:ext cx="137160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ADVERTISES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18119" y="1988819"/>
            <a:ext cx="274321" cy="0"/>
          </a:xfrm>
          <a:prstGeom prst="line">
            <a:avLst/>
          </a:prstGeom>
          <a:ln w="28575">
            <a:solidFill>
              <a:srgbClr val="8A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092440" y="1988819"/>
            <a:ext cx="0" cy="3200401"/>
          </a:xfrm>
          <a:prstGeom prst="line">
            <a:avLst/>
          </a:prstGeom>
          <a:ln w="28575">
            <a:solidFill>
              <a:srgbClr val="8A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172200" y="5189220"/>
            <a:ext cx="1920240" cy="0"/>
          </a:xfrm>
          <a:prstGeom prst="line">
            <a:avLst/>
          </a:prstGeom>
          <a:ln w="28575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09360" y="5225796"/>
            <a:ext cx="109728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BID_ON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06440"/>
            <a:ext cx="7589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5B6472"/>
                </a:solidFill>
                <a:latin typeface="Calibri"/>
              </a:rPr>
              <a:t>Delta node and edge tables; SQL joins and GraphFrames gave the same answer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58200" y="1508760"/>
            <a:ext cx="3273552" cy="14630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641080" y="1618488"/>
            <a:ext cx="2907792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3A5F"/>
                </a:solidFill>
                <a:latin typeface="Calibri"/>
              </a:rPr>
              <a:t>0 orphans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2094738"/>
            <a:ext cx="2907792" cy="7124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and 0 duplicate keys on 25 checks; a breach stops the notebook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58200" y="3154680"/>
            <a:ext cx="3273552" cy="146304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641080" y="3264408"/>
            <a:ext cx="2907792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F766E"/>
                </a:solidFill>
                <a:latin typeface="Calibri"/>
              </a:rPr>
              <a:t>261,169 firms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3740658"/>
            <a:ext cx="2907792" cy="7124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from 344,273 supplier ids; precision 1.00, recall 0.90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58200" y="4800600"/>
            <a:ext cx="3273552" cy="14630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641080" y="4910328"/>
            <a:ext cx="2907792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3A5F"/>
                </a:solidFill>
                <a:latin typeface="Calibri"/>
              </a:rPr>
              <a:t>2.28M edges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5386578"/>
            <a:ext cx="2907792" cy="7124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1.03M nodes, 0 dangling edges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2823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Procurement Intelligence Platform  |  Shabad Vaswani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17352" y="6428232"/>
            <a:ext cx="9144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A5F"/>
                </a:solidFill>
                <a:latin typeface="Calibri"/>
              </a:rPr>
              <a:t>Engines: a calibrated forecast and an agent that must cite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96112"/>
            <a:ext cx="1127455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B6472"/>
                </a:solidFill>
                <a:latin typeface="Calibri"/>
              </a:rPr>
              <a:t>Statistics come from models and tables; the LLM plans, retrieves and writes, and code checks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Duration and slow-tender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B6472"/>
                </a:solidFill>
                <a:latin typeface="Calibri"/>
              </a:rPr>
              <a:t>P50 error in days, 6,624 test tenders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2194560"/>
          <a:ext cx="512064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617720"/>
            <a:ext cx="2468880" cy="16002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4727448"/>
            <a:ext cx="2103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80.7%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71948"/>
            <a:ext cx="2103120" cy="88137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P10-P90 coverage, after a conformal step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4617720"/>
            <a:ext cx="2468880" cy="16002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91840" y="4727448"/>
            <a:ext cx="210312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0.747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171948"/>
            <a:ext cx="2103120" cy="88137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ROC-AUC for slow tenders; peer rate 0.584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463040"/>
            <a:ext cx="56509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Cited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920240"/>
            <a:ext cx="5650992" cy="640080"/>
          </a:xfrm>
          <a:prstGeom prst="roundRect">
            <a:avLst>
              <a:gd name="adj" fmla="val 8000"/>
            </a:avLst>
          </a:prstGeom>
          <a:solidFill>
            <a:srgbClr val="FDF1E6"/>
          </a:solidFill>
          <a:ln w="15875">
            <a:solidFill>
              <a:srgbClr val="B45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 tIns="27432" bIns="27432"/>
          <a:lstStyle/>
          <a:p>
            <a:pPr algn="l"/>
            <a:r>
              <a:rPr sz="1900" b="1">
                <a:solidFill>
                  <a:srgbClr val="B45A12"/>
                </a:solidFill>
                <a:latin typeface="Calibri"/>
              </a:rPr>
              <a:t>Input guard   </a:t>
            </a:r>
            <a:r>
              <a:rPr sz="1800" b="0">
                <a:solidFill>
                  <a:srgbClr val="1F2937"/>
                </a:solidFill>
                <a:latin typeface="Calibri"/>
              </a:rPr>
              <a:t>Llama 3.3 checks scope and injection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29400" y="2560320"/>
            <a:ext cx="0" cy="201168"/>
          </a:xfrm>
          <a:prstGeom prst="line">
            <a:avLst/>
          </a:prstGeom>
          <a:ln w="28575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80760" y="2761488"/>
            <a:ext cx="5650992" cy="64008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 tIns="27432" bIns="27432"/>
          <a:lstStyle/>
          <a:p>
            <a:pPr algn="l"/>
            <a:r>
              <a:rPr sz="1900" b="1">
                <a:solidFill>
                  <a:srgbClr val="0F766E"/>
                </a:solidFill>
                <a:latin typeface="Calibri"/>
              </a:rPr>
              <a:t>Planner + 5 tools   </a:t>
            </a:r>
            <a:r>
              <a:rPr sz="1800" b="0">
                <a:solidFill>
                  <a:srgbClr val="1F2937"/>
                </a:solidFill>
                <a:latin typeface="Calibri"/>
              </a:rPr>
              <a:t>Qwen 3.5, at most 6 tool calls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629400" y="3401568"/>
            <a:ext cx="0" cy="201168"/>
          </a:xfrm>
          <a:prstGeom prst="line">
            <a:avLst/>
          </a:prstGeom>
          <a:ln w="28575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080760" y="3602736"/>
            <a:ext cx="5650992" cy="64008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 tIns="27432" bIns="27432"/>
          <a:lstStyle/>
          <a:p>
            <a:pPr algn="l"/>
            <a:r>
              <a:rPr sz="1900" b="1">
                <a:solidFill>
                  <a:srgbClr val="0F766E"/>
                </a:solidFill>
                <a:latin typeface="Calibri"/>
              </a:rPr>
              <a:t>Writer   </a:t>
            </a:r>
            <a:r>
              <a:rPr sz="1800" b="0">
                <a:solidFill>
                  <a:srgbClr val="1F2937"/>
                </a:solidFill>
                <a:latin typeface="Calibri"/>
              </a:rPr>
              <a:t>JSON brief, a record id on every claim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629400" y="4242816"/>
            <a:ext cx="0" cy="201167"/>
          </a:xfrm>
          <a:prstGeom prst="line">
            <a:avLst/>
          </a:prstGeom>
          <a:ln w="28575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080760" y="4443983"/>
            <a:ext cx="5650992" cy="640080"/>
          </a:xfrm>
          <a:prstGeom prst="roundRect">
            <a:avLst>
              <a:gd name="adj" fmla="val 8000"/>
            </a:avLst>
          </a:prstGeom>
          <a:solidFill>
            <a:srgbClr val="FDF1E6"/>
          </a:solidFill>
          <a:ln w="15875">
            <a:solidFill>
              <a:srgbClr val="B45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 tIns="27432" bIns="27432"/>
          <a:lstStyle/>
          <a:p>
            <a:pPr algn="l"/>
            <a:r>
              <a:rPr sz="1900" b="1">
                <a:solidFill>
                  <a:srgbClr val="B45A12"/>
                </a:solidFill>
                <a:latin typeface="Calibri"/>
              </a:rPr>
              <a:t>Validation in code   </a:t>
            </a:r>
            <a:r>
              <a:rPr sz="1800" b="0">
                <a:solidFill>
                  <a:srgbClr val="1F2937"/>
                </a:solidFill>
                <a:latin typeface="Calibri"/>
              </a:rPr>
              <a:t>unknown ids dropped, facts checked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629400" y="5084064"/>
            <a:ext cx="0" cy="201167"/>
          </a:xfrm>
          <a:prstGeom prst="line">
            <a:avLst/>
          </a:prstGeom>
          <a:ln w="28575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080760" y="5285231"/>
            <a:ext cx="5650992" cy="6400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 tIns="27432" bIns="27432"/>
          <a:lstStyle/>
          <a:p>
            <a:pPr algn="l"/>
            <a:r>
              <a:rPr sz="1900" b="1">
                <a:solidFill>
                  <a:srgbClr val="1F3A5F"/>
                </a:solidFill>
                <a:latin typeface="Calibri"/>
              </a:rPr>
              <a:t>Cited brief   </a:t>
            </a:r>
            <a:r>
              <a:rPr sz="1800" b="0">
                <a:solidFill>
                  <a:srgbClr val="1F2937"/>
                </a:solidFill>
                <a:latin typeface="Calibri"/>
              </a:rPr>
              <a:t>timeline, risks, precedents, evidence gaps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6016751"/>
            <a:ext cx="5650992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1">
                <a:solidFill>
                  <a:srgbClr val="0F766E"/>
                </a:solidFill>
                <a:latin typeface="Calibri"/>
              </a:rPr>
              <a:t>The model is never the last check.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2823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Procurement Intelligence Platform  |  Shabad Vaswani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17352" y="6428232"/>
            <a:ext cx="9144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A5F"/>
                </a:solidFill>
                <a:latin typeface="Calibri"/>
              </a:rPr>
              <a:t>Evaluation and trust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96112"/>
            <a:ext cx="1127455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B6472"/>
                </a:solidFill>
                <a:latin typeface="Calibri"/>
              </a:rPr>
              <a:t>Tested as of the notice date, with every label's origin stated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575304" cy="22402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3209544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F3A5F"/>
                </a:solidFill>
                <a:latin typeface="Calibri"/>
              </a:rPr>
              <a:t>87 vs 100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07768"/>
            <a:ext cx="3209544" cy="1330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timeline error on 300 real tenders replayed as of their notice date: model vs peer lookup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6824" y="1463040"/>
            <a:ext cx="3575304" cy="224028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489704" y="1572768"/>
            <a:ext cx="3209544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F766E"/>
                </a:solidFill>
                <a:latin typeface="Calibri"/>
              </a:rPr>
              <a:t>5 → 2 of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9704" y="2207768"/>
            <a:ext cx="3209544" cy="1330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briefs with an unsupported claim, before and after facts lines and a code fact-check; 1 of 10 on a holdout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463040"/>
            <a:ext cx="3575304" cy="22402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39327" y="1572768"/>
            <a:ext cx="3209544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F3A5F"/>
                </a:solidFill>
                <a:latin typeface="Calibri"/>
              </a:rPr>
              <a:t>35 of 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2207768"/>
            <a:ext cx="3209544" cy="1330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projects IEG rated unsatisfactory still had a satisfactory last ISR; both sides are shown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77639"/>
            <a:ext cx="1127455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How the evaluation labels were made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3484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900" b="1">
                <a:solidFill>
                  <a:srgbClr val="1F3A5F"/>
                </a:solidFill>
                <a:latin typeface="Calibri"/>
              </a:rPr>
              <a:t>1  Code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Calibri"/>
              </a:rPr>
              <a:t>decides what it can: range hit, citation validity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31920" y="4960620"/>
            <a:ext cx="402336" cy="0"/>
          </a:xfrm>
          <a:prstGeom prst="line">
            <a:avLst/>
          </a:prstGeom>
          <a:ln w="31750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79976" y="443484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900" b="1">
                <a:solidFill>
                  <a:srgbClr val="1F3A5F"/>
                </a:solidFill>
                <a:latin typeface="Calibri"/>
              </a:rPr>
              <a:t>2  Three LLM judges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Calibri"/>
              </a:rPr>
              <a:t>from different model families, one rubric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54696" y="4960620"/>
            <a:ext cx="402335" cy="0"/>
          </a:xfrm>
          <a:prstGeom prst="line">
            <a:avLst/>
          </a:prstGeom>
          <a:ln w="31750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443484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900" b="1">
                <a:solidFill>
                  <a:srgbClr val="1F3A5F"/>
                </a:solidFill>
                <a:latin typeface="Calibri"/>
              </a:rPr>
              <a:t>3  AI adjudicator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Calibri"/>
              </a:rPr>
              <a:t>settles disagreements, writes its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87568"/>
            <a:ext cx="1127455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F766E"/>
                </a:solidFill>
                <a:latin typeface="Calibri"/>
              </a:rPr>
              <a:t>No item was labelled by a person.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Procurement specialists validate the labels in the pilot.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2823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Procurement Intelligence Platform  |  Shabad Vaswani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17352" y="6428232"/>
            <a:ext cx="9144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A5F"/>
                </a:solidFill>
                <a:latin typeface="Calibri"/>
              </a:rPr>
              <a:t>Limits and next steps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96112"/>
            <a:ext cx="1127455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B6472"/>
                </a:solidFill>
                <a:latin typeface="Calibri"/>
              </a:rPr>
              <a:t>What is not built, what the public data cannot show, and what a pilot would add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575304" cy="333756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311810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1F3A5F"/>
                </a:solidFill>
                <a:latin typeface="Calibri"/>
              </a:rPr>
              <a:t>Not built yet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3163824" cy="2423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0F766E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A check that a cited passage supports its sentence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0F766E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Vector Search over every PAD and ICR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0F766E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Daily job defined, paused until the shadow phase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6824" y="1463040"/>
            <a:ext cx="3575304" cy="333756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35424" y="1645920"/>
            <a:ext cx="311810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1F3A5F"/>
                </a:solidFill>
                <a:latin typeface="Calibri"/>
              </a:rPr>
              <a:t>Data 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424" y="2240280"/>
            <a:ext cx="3163824" cy="2423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0F766E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Amendments, milestones and payments are not public (STEP)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0F766E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Awards only from FY2020; no CPIA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0F766E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Lessons from 300 of about 8,100 ICRs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463040"/>
            <a:ext cx="3575304" cy="333756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85048" y="1645920"/>
            <a:ext cx="311810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0F766E"/>
                </a:solidFill>
                <a:latin typeface="Calibri"/>
              </a:rPr>
              <a:t>What the pilot adds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2240280"/>
            <a:ext cx="3163824" cy="2423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0F766E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Shadow mode, 4 to 6 weeks: answers logged, not shown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0F766E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2 or 3 hubs, 15 to 30 specialists; staff decide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0F766E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Specialists label 100+ packages and check the AI labels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07492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85800" y="512064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B45A12"/>
                </a:solidFill>
                <a:latin typeface="Calibri"/>
              </a:rPr>
              <a:t>Small samples: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20 agent packages, 30 + 10 reviewed briefs; one brief moves the holdout rate by about 10 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2823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Procurement Intelligence Platform  |  Shabad Vaswani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17352" y="6428232"/>
            <a:ext cx="9144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 i="0">
                <a:solidFill>
                  <a:srgbClr val="CADCF0"/>
                </a:solidFill>
                <a:latin typeface="Calibri"/>
              </a:rPr>
              <a:t>A new package in, a cited planning brief 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29260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2200" b="1">
                <a:solidFill>
                  <a:srgbClr val="0F766E"/>
                </a:solidFill>
                <a:latin typeface="Calibri"/>
              </a:rPr>
              <a:t>1  </a:t>
            </a:r>
            <a:r>
              <a:rPr sz="2000" b="1">
                <a:solidFill>
                  <a:srgbClr val="1F3A5F"/>
                </a:solidFill>
                <a:latin typeface="Calibri"/>
              </a:rPr>
              <a:t>Enter a package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03320" y="3314700"/>
            <a:ext cx="320040" cy="0"/>
          </a:xfrm>
          <a:prstGeom prst="line">
            <a:avLst/>
          </a:prstGeom>
          <a:ln w="31750">
            <a:solidFill>
              <a:srgbClr val="CADC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069080" y="2926080"/>
            <a:ext cx="29260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2200" b="1">
                <a:solidFill>
                  <a:srgbClr val="0F766E"/>
                </a:solidFill>
                <a:latin typeface="Calibri"/>
              </a:rPr>
              <a:t>2  </a:t>
            </a:r>
            <a:r>
              <a:rPr sz="2000" b="1">
                <a:solidFill>
                  <a:srgbClr val="1F3A5F"/>
                </a:solidFill>
                <a:latin typeface="Calibri"/>
              </a:rPr>
              <a:t>Watch the tool calls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040880" y="3314700"/>
            <a:ext cx="320039" cy="0"/>
          </a:xfrm>
          <a:prstGeom prst="line">
            <a:avLst/>
          </a:prstGeom>
          <a:ln w="31750">
            <a:solidFill>
              <a:srgbClr val="CADC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406640" y="2926080"/>
            <a:ext cx="29260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2200" b="1">
                <a:solidFill>
                  <a:srgbClr val="0F766E"/>
                </a:solidFill>
                <a:latin typeface="Calibri"/>
              </a:rPr>
              <a:t>3  </a:t>
            </a:r>
            <a:r>
              <a:rPr sz="2000" b="1">
                <a:solidFill>
                  <a:srgbClr val="1F3A5F"/>
                </a:solidFill>
                <a:latin typeface="Calibri"/>
              </a:rPr>
              <a:t>Open a cited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4340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Thank you. Questions welcome.</a:t>
            </a:r>
          </a:p>
        </p:txBody>
      </p:sp>
      <p:sp>
        <p:nvSpPr>
          <p:cNvPr id="10" name="TextBox 9">
            <a:hlinkClick r:id="rId2"/>
          </p:cNvPr>
          <p:cNvSpPr txBox="1"/>
          <p:nvPr/>
        </p:nvSpPr>
        <p:spPr>
          <a:xfrm>
            <a:off x="731520" y="5074920"/>
            <a:ext cx="1069848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CADCF0"/>
                </a:solidFill>
                <a:latin typeface="Calibri"/>
              </a:rPr>
              <a:t>github.com/ShabadVaswani/worldbank-procurement-intelligence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698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CADCF0"/>
                </a:solidFill>
                <a:latin typeface="Calibri"/>
              </a:rPr>
              <a:t>Shabad Vaswani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Procurement Intelligence Platform</dc:title>
  <dc:subject/>
  <dc:creator>Shabad Vaswani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
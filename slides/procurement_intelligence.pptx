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Open with the problem in one sentence. The registry says what happened, the notices say how, and the completion reports say why, but they sit in three places and nobody reads the third one at planning time.</a:t>
            </a:r>
          </a:p>
          <a:p>
            <a:r>
              <a:t>- I chose to build, not only design. Everything on the slide runs on Azure Databricks on the real public data: the awards feed, procurement notices, project data, ISRs, ICRs and IEG reviews.</a:t>
            </a:r>
          </a:p>
          <a:p>
            <a:r>
              <a:t>- Walk the architecture left to right in one breath: sources, bronze with idempotent loads, a keyed silver model, gold tables and the graph, then the engines and the users. The bottom band is governance: Unity Catalog, MLflow, Workflows.</a:t>
            </a:r>
          </a:p>
          <a:p>
            <a:r>
              <a:t>- Point at the dashed boxes. They are designed but not built, for example disbursements and CPIA. I would rather show the gap than hide it.</a:t>
            </a:r>
          </a:p>
          <a:p>
            <a:r>
              <a:t>- The four numbers: 282,890 contracts linked to notices and projects; 261,169 firms resolved at precision 1.00 and recall 0.90; a duration model 13 days better than the lookup an analyst would use, measured on tenders it never saw; and a backtest that replays 300 real tenders as of their notice date.</a:t>
            </a:r>
          </a:p>
          <a:p>
            <a:r>
              <a:t>- If asked about 75 vs 76: p07 logged 76 on the same test set; the backtest refit the same recipe and got 75.5. Same model recipe, different row order in bagging.</a:t>
            </a:r>
          </a:p>
          <a:p>
            <a:r>
              <a:t>- Transition: "The thing that makes the rest possible is the data model, so let me start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Grain first. One row per contract; joint-venture members live in contract_suppliers, because the feed repeats the whole contract value on every member's row. Summing it would double-count 8,864 contracts.</a:t>
            </a:r>
          </a:p>
          <a:p>
            <a:r>
              <a:t>- Keys are declared in Unity Catalog, but Unity Catalog does not enforce them, so every notebook counts duplicates and orphans and stops on a breach. Those checks caught three real defects during the build.</a:t>
            </a:r>
          </a:p>
          <a:p>
            <a:r>
              <a:t>- Entity resolution in three sentences: block by country, TF-IDF character trigrams, and rules that stop chaining. The rules came from failures: twelve provincial land registries merged into one firm, and "Ajay Kumar" under 24 ids. Measured on 100 labelled pairs: precision 1.00 and recall 0.90 on the final three-tier labels (0.97 on the build's first labels, where the threshold was chosen), plus a random audit of 40 links.</a:t>
            </a:r>
          </a:p>
          <a:p>
            <a:r>
              <a:t>- Tender timelines: notices and contracts share no key, so links are tiered and each tier was audited on a sample. 44.9% of openly competed contracts get a measured duration, median 158 days.</a:t>
            </a:r>
          </a:p>
          <a:p>
            <a:r>
              <a:t>- The graph is Delta tables built from those keys: 1.03 million nodes and 2.28 million edges with zero dangling edges. Why not Neo4j: the questions are two to four hops in batch, and one copy keeps one set of permissions.</a:t>
            </a:r>
          </a:p>
          <a:p>
            <a:r>
              <a:t>- Answer the brief's example on the slide: contract, then project, then the completion-report passage, with time deciding whether a lesson is an explanation or a precedent.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Duration model. Start with the trap: the feed starts in FY2020, so old tenders look slow and new ones look fast, and a naive test says tenders got twice as fast. I trained only on cohorts that can be fully observed.</a:t>
            </a:r>
          </a:p>
          <a:p>
            <a:r>
              <a:t>- LightGBM quantiles for P10, P50 and P90, then a conformal step because the raw interval covered 68% instead of 80%. After it, 80.7%.</a:t>
            </a:r>
          </a:p>
          <a:p>
            <a:r>
              <a:t>- Re-bidding risk: I looked, and only 1.3 to 1.5% of contracts show a second tender notice. I report the rate instead of modelling noise, and model "slow tender" instead: ROC-AUC 0.747 against 0.584 for the peer rate.</a:t>
            </a:r>
          </a:p>
          <a:p>
            <a:r>
              <a:t>- Agent: input guard from a different model family, a planner limited to six tool calls, five tools, a writer, and then code that checks the brief. The model is never the last check.</a:t>
            </a:r>
          </a:p>
          <a:p>
            <a:r>
              <a:t>- Read the excerpt aloud. The timeline sentence cites a benchmark row; the rainy-season risk cites a completion-report passage. A reviewer can open both.</a:t>
            </a:r>
          </a:p>
          <a:p>
            <a:r>
              <a:t>- Precedents: only close ones are shown, 0 to 5, by a rule on two similarity scores. 82% of cited precedents are relevant, up from 74%, and a package with nothing comparable gets none instead of five weak ones.</a:t>
            </a:r>
          </a:p>
          <a:p>
            <a:r>
              <a:t>- forecast_timeline: honest finding. From the package fields alone the model is no better than the peer group (91 vs 85 days on 20 cases, and 17 of those were in training, so indicative only). With the project id it is 80, with real notice facts 60. So the brief asks for those details.</a:t>
            </a:r>
          </a:p>
          <a:p>
            <a:r>
              <a:t>- Tender checks: 672 of 1,939 international tenders were advertised for less than the Regulations' 30 business days; they drew fewer bidders (4.9 vs 5.6) and more single-bidder outcomes (28.5% vs 20.3%). Correlation, not proof, and part of it is the publication date on the Bank site.</a:t>
            </a:r>
          </a:p>
          <a:p>
            <a:r>
              <a:t>- Early warnings: 1,340 active projects, 73 red and 238 amber, each with its reasons. A weak mid-term ISR rating went with IEG-unsatisfactory 23.8% of the time vs 14.0%.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Lead with the leak, because it shows how I test. The registered @champion was refit on all data after evaluation, which is normal before deployment. Scored on the test tenders it gets 50 days and 95% coverage, because it has seen them. So every evaluation number comes from a refit at the cutoff: 75 days vs 88 for the peer lookup, coverage 81% vs 77%.</a:t>
            </a:r>
          </a:p>
          <a:p>
            <a:r>
              <a:t>- The backtest replays 300 real tenders on their notice date with everything later hidden: 87 days (CI 77-98) vs 100; slow-flag AUC 0.74 vs 0.58; the model does not beat the peer table for consulting (134 vs 127), so the brief leads with the peer group there.</a:t>
            </a:r>
          </a:p>
          <a:p>
            <a:r>
              <a:t>- Lessons: retrieved passages named a problem that the project's own completion report says happened in 38% of cases vs 8% for random passages.</a:t>
            </a:r>
          </a:p>
          <a:p>
            <a:r>
              <a:t>- Be straight about the evaluation size: 20 packages, and an LLM judge that agreed 90% of the time with 30 reference labels made by an AI agent during the build and is not deterministic. Evaluation labels come from a three-tier escalation: code decides what it can, a panel of three judges from different model families labels the rest, and disagreements go to an AI adjudicator that records its evidence. The pilot's first job is a larger labelled set with procurement specialists, who also validate these labels.</a:t>
            </a:r>
          </a:p>
          <a:p>
            <a:r>
              <a:t>- Weak spots, said plainly: 19% of packages get no precedent; on the final labels 5 of the 30 full briefs contain an unsupported claim, two of them confirmed against the data (a precedent called "same project" that is not, and an overstated firm-count range); a rule-based relevance check failed (kappa 0.21), so relevance needs a judge or a person.</a:t>
            </a:r>
          </a:p>
          <a:p>
            <a:r>
              <a:t>- Conflicting evidence is the most interesting finding. Half of the projects IEG rated unsatisfactory still looked satisfactory in their last ISR. So the platform cannot just "pick the best source"; the source depends on the question. Outcome: IEG first. Current status: the newest ISR. Both sides are always shown with a flag.</a:t>
            </a:r>
          </a:p>
          <a:p>
            <a:r>
              <a:t>- Data gaps: contract amendments, milestones and payments are not public (production would read STEP, Client Connection, PRAMS); no CPIA; awards only from FY2020; 300 of about 8,100 ICRs. Plain-text chunking had lost 26.8% of table rows in PADs; the table-aware parser fixes that, though it is worse at rank 1 (5 vs 8 of 12). Each gap has a stated workaround in data_gaps.md.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loop is real, not a diagram: Change Data Feed on nine tables, the graph updated by one MERGE, and the result equals a full rebuild row for row. Re-embedding is driven by content hashes.</a:t>
            </a:r>
          </a:p>
          <a:p>
            <a:r>
              <a:t>- Retraining needs a reason and data: drift, error or age, plus at least 1,000 new labelled contracts. Promotion is an alias move after a challenger beats the champion on the same window, so rollback is one alias move.</a:t>
            </a:r>
          </a:p>
          <a:p>
            <a:r>
              <a:t>- Pilot in three phases with go/no-go thresholds. Phase 0 shadow mode is where the hard trust KPIs must pass before any user sees an answer.</a:t>
            </a:r>
          </a:p>
          <a:p>
            <a:r>
              <a:t>- KPIs: planning cycle time baseline 160 days today; compare pilot hubs with similar non-pilot hubs, because durations depend on much more than this tool.</a:t>
            </a:r>
          </a:p>
          <a:p>
            <a:r>
              <a:t>- Close: what I would do in the first 90 days. Full ICR and PAD corpus, an amendment feed, the labelled evaluation set with specialists, and shadow mode.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92608"/>
            <a:ext cx="11247120" cy="640080"/>
          </a:xfrm>
          <a:prstGeom prst="rect">
            <a:avLst/>
          </a:prstGeom>
          <a:noFill/>
        </p:spPr>
        <p:txBody>
          <a:bodyPr wrap="square" anchor="t" lIns="36576" rIns="36576" tIns="18288" bIns="18288">
            <a:spAutoFit/>
          </a:bodyPr>
          <a:lstStyle/>
          <a:p>
            <a:pPr algn="l">
              <a:spcAft>
                <a:spcPts val="400"/>
              </a:spcAft>
            </a:pPr>
            <a:r>
              <a:rPr sz="3000" b="1">
                <a:solidFill>
                  <a:srgbClr val="1F3A5F"/>
                </a:solidFill>
                <a:latin typeface="Calibri"/>
              </a:rPr>
              <a:t>Procurement intelligence on real World Bank data</a:t>
            </a:r>
          </a:p>
        </p:txBody>
      </p:sp>
      <p:sp>
        <p:nvSpPr>
          <p:cNvPr id="3" name="Subtitle"/>
          <p:cNvSpPr txBox="1"/>
          <p:nvPr/>
        </p:nvSpPr>
        <p:spPr>
          <a:xfrm>
            <a:off x="457200" y="896112"/>
            <a:ext cx="11247120" cy="365760"/>
          </a:xfrm>
          <a:prstGeom prst="rect">
            <a:avLst/>
          </a:prstGeom>
          <a:noFill/>
        </p:spPr>
        <p:txBody>
          <a:bodyPr wrap="square" anchor="t" lIns="36576" rIns="36576" tIns="18288" bIns="18288">
            <a:spAutoFit/>
          </a:bodyPr>
          <a:lstStyle/>
          <a:p>
            <a:pPr algn="l">
              <a:spcAft>
                <a:spcPts val="400"/>
              </a:spcAft>
            </a:pPr>
            <a:r>
              <a:rPr sz="1500" b="0">
                <a:solidFill>
                  <a:srgbClr val="5B6472"/>
                </a:solidFill>
                <a:latin typeface="Calibri"/>
              </a:rPr>
              <a:t>The registry says what happened, notices say how, completion reports say why. I joined them and built the platform.</a:t>
            </a:r>
          </a:p>
        </p:txBody>
      </p:sp>
      <p:pic>
        <p:nvPicPr>
          <p:cNvPr id="4" name="Picture 3" descr="architecture_slide.png"/>
          <p:cNvPicPr>
            <a:picLocks noChangeAspect="1"/>
          </p:cNvPicPr>
          <p:nvPr/>
        </p:nvPicPr>
        <p:blipFill>
          <a:blip r:embed="rId2"/>
          <a:stretch>
            <a:fillRect/>
          </a:stretch>
        </p:blipFill>
        <p:spPr>
          <a:xfrm>
            <a:off x="457200" y="1600200"/>
            <a:ext cx="7818120" cy="3735620"/>
          </a:xfrm>
          <a:prstGeom prst="rect">
            <a:avLst/>
          </a:prstGeom>
        </p:spPr>
      </p:pic>
      <p:sp>
        <p:nvSpPr>
          <p:cNvPr id="5" name="Rounded Rectangle 4"/>
          <p:cNvSpPr/>
          <p:nvPr/>
        </p:nvSpPr>
        <p:spPr>
          <a:xfrm>
            <a:off x="8549640" y="1417320"/>
            <a:ext cx="3182112" cy="1097280"/>
          </a:xfrm>
          <a:prstGeom prst="roundRect">
            <a:avLst>
              <a:gd name="adj" fmla="val 6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14232" y="1490472"/>
            <a:ext cx="2907792" cy="502920"/>
          </a:xfrm>
          <a:prstGeom prst="rect">
            <a:avLst/>
          </a:prstGeom>
          <a:noFill/>
        </p:spPr>
        <p:txBody>
          <a:bodyPr wrap="square" anchor="t" lIns="36576" rIns="36576" tIns="18288" bIns="18288">
            <a:spAutoFit/>
          </a:bodyPr>
          <a:lstStyle/>
          <a:p>
            <a:pPr algn="l">
              <a:spcAft>
                <a:spcPts val="400"/>
              </a:spcAft>
            </a:pPr>
            <a:r>
              <a:rPr sz="2600" b="1">
                <a:solidFill>
                  <a:srgbClr val="1F3A5F"/>
                </a:solidFill>
                <a:latin typeface="Calibri"/>
              </a:rPr>
              <a:t>282,890</a:t>
            </a:r>
          </a:p>
        </p:txBody>
      </p:sp>
      <p:sp>
        <p:nvSpPr>
          <p:cNvPr id="7" name="TextBox 6"/>
          <p:cNvSpPr txBox="1"/>
          <p:nvPr/>
        </p:nvSpPr>
        <p:spPr>
          <a:xfrm>
            <a:off x="8714232" y="1965960"/>
            <a:ext cx="2907792" cy="502919"/>
          </a:xfrm>
          <a:prstGeom prst="rect">
            <a:avLst/>
          </a:prstGeom>
          <a:noFill/>
        </p:spPr>
        <p:txBody>
          <a:bodyPr wrap="square" anchor="t" lIns="36576" rIns="36576" tIns="18288" bIns="18288">
            <a:spAutoFit/>
          </a:bodyPr>
          <a:lstStyle/>
          <a:p>
            <a:pPr algn="l">
              <a:spcAft>
                <a:spcPts val="400"/>
              </a:spcAft>
            </a:pPr>
            <a:r>
              <a:rPr sz="1200" b="0">
                <a:solidFill>
                  <a:srgbClr val="1F2937"/>
                </a:solidFill>
                <a:latin typeface="Calibri"/>
              </a:rPr>
              <a:t>contracts, linked to 379,820 notices and 3,768 projects</a:t>
            </a:r>
          </a:p>
        </p:txBody>
      </p:sp>
      <p:sp>
        <p:nvSpPr>
          <p:cNvPr id="8" name="Rounded Rectangle 7"/>
          <p:cNvSpPr/>
          <p:nvPr/>
        </p:nvSpPr>
        <p:spPr>
          <a:xfrm>
            <a:off x="8549640" y="2633472"/>
            <a:ext cx="3182112" cy="1097280"/>
          </a:xfrm>
          <a:prstGeom prst="roundRect">
            <a:avLst>
              <a:gd name="adj" fmla="val 6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14232" y="2706624"/>
            <a:ext cx="2907792" cy="502920"/>
          </a:xfrm>
          <a:prstGeom prst="rect">
            <a:avLst/>
          </a:prstGeom>
          <a:noFill/>
        </p:spPr>
        <p:txBody>
          <a:bodyPr wrap="square" anchor="t" lIns="36576" rIns="36576" tIns="18288" bIns="18288">
            <a:spAutoFit/>
          </a:bodyPr>
          <a:lstStyle/>
          <a:p>
            <a:pPr algn="l">
              <a:spcAft>
                <a:spcPts val="400"/>
              </a:spcAft>
            </a:pPr>
            <a:r>
              <a:rPr sz="2600" b="1">
                <a:solidFill>
                  <a:srgbClr val="1F3A5F"/>
                </a:solidFill>
                <a:latin typeface="Calibri"/>
              </a:rPr>
              <a:t>261,169</a:t>
            </a:r>
          </a:p>
        </p:txBody>
      </p:sp>
      <p:sp>
        <p:nvSpPr>
          <p:cNvPr id="10" name="TextBox 9"/>
          <p:cNvSpPr txBox="1"/>
          <p:nvPr/>
        </p:nvSpPr>
        <p:spPr>
          <a:xfrm>
            <a:off x="8714232" y="3182112"/>
            <a:ext cx="2907792" cy="502919"/>
          </a:xfrm>
          <a:prstGeom prst="rect">
            <a:avLst/>
          </a:prstGeom>
          <a:noFill/>
        </p:spPr>
        <p:txBody>
          <a:bodyPr wrap="square" anchor="t" lIns="36576" rIns="36576" tIns="18288" bIns="18288">
            <a:spAutoFit/>
          </a:bodyPr>
          <a:lstStyle/>
          <a:p>
            <a:pPr algn="l">
              <a:spcAft>
                <a:spcPts val="400"/>
              </a:spcAft>
            </a:pPr>
            <a:r>
              <a:rPr sz="1200" b="0">
                <a:solidFill>
                  <a:srgbClr val="1F2937"/>
                </a:solidFill>
                <a:latin typeface="Calibri"/>
              </a:rPr>
              <a:t>supplier firms resolved from 344,273 ids; precision 1.00, recall 0.90</a:t>
            </a:r>
          </a:p>
        </p:txBody>
      </p:sp>
      <p:sp>
        <p:nvSpPr>
          <p:cNvPr id="11" name="Rounded Rectangle 10"/>
          <p:cNvSpPr/>
          <p:nvPr/>
        </p:nvSpPr>
        <p:spPr>
          <a:xfrm>
            <a:off x="8549640" y="3849624"/>
            <a:ext cx="3182112" cy="1097280"/>
          </a:xfrm>
          <a:prstGeom prst="roundRect">
            <a:avLst>
              <a:gd name="adj" fmla="val 6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14232" y="3922776"/>
            <a:ext cx="2907792" cy="502920"/>
          </a:xfrm>
          <a:prstGeom prst="rect">
            <a:avLst/>
          </a:prstGeom>
          <a:noFill/>
        </p:spPr>
        <p:txBody>
          <a:bodyPr wrap="square" anchor="t" lIns="36576" rIns="36576" tIns="18288" bIns="18288">
            <a:spAutoFit/>
          </a:bodyPr>
          <a:lstStyle/>
          <a:p>
            <a:pPr algn="l">
              <a:spcAft>
                <a:spcPts val="400"/>
              </a:spcAft>
            </a:pPr>
            <a:r>
              <a:rPr sz="2600" b="1">
                <a:solidFill>
                  <a:srgbClr val="1F3A5F"/>
                </a:solidFill>
                <a:latin typeface="Calibri"/>
              </a:rPr>
              <a:t>75 vs 88 days</a:t>
            </a:r>
          </a:p>
        </p:txBody>
      </p:sp>
      <p:sp>
        <p:nvSpPr>
          <p:cNvPr id="13" name="TextBox 12"/>
          <p:cNvSpPr txBox="1"/>
          <p:nvPr/>
        </p:nvSpPr>
        <p:spPr>
          <a:xfrm>
            <a:off x="8714232" y="4398264"/>
            <a:ext cx="2907792" cy="502919"/>
          </a:xfrm>
          <a:prstGeom prst="rect">
            <a:avLst/>
          </a:prstGeom>
          <a:noFill/>
        </p:spPr>
        <p:txBody>
          <a:bodyPr wrap="square" anchor="t" lIns="36576" rIns="36576" tIns="18288" bIns="18288">
            <a:spAutoFit/>
          </a:bodyPr>
          <a:lstStyle/>
          <a:p>
            <a:pPr algn="l">
              <a:spcAft>
                <a:spcPts val="400"/>
              </a:spcAft>
            </a:pPr>
            <a:r>
              <a:rPr sz="1200" b="0">
                <a:solidFill>
                  <a:srgbClr val="1F2937"/>
                </a:solidFill>
                <a:latin typeface="Calibri"/>
              </a:rPr>
              <a:t>duration error on 6,624 test tenders: model trained before them vs the peer lookup</a:t>
            </a:r>
          </a:p>
        </p:txBody>
      </p:sp>
      <p:sp>
        <p:nvSpPr>
          <p:cNvPr id="14" name="Rounded Rectangle 13"/>
          <p:cNvSpPr/>
          <p:nvPr/>
        </p:nvSpPr>
        <p:spPr>
          <a:xfrm>
            <a:off x="8549640" y="5065776"/>
            <a:ext cx="3182112" cy="1097280"/>
          </a:xfrm>
          <a:prstGeom prst="roundRect">
            <a:avLst>
              <a:gd name="adj" fmla="val 6000"/>
            </a:avLst>
          </a:prstGeom>
          <a:solidFill>
            <a:srgbClr val="E6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14232" y="5138928"/>
            <a:ext cx="2907792" cy="502920"/>
          </a:xfrm>
          <a:prstGeom prst="rect">
            <a:avLst/>
          </a:prstGeom>
          <a:noFill/>
        </p:spPr>
        <p:txBody>
          <a:bodyPr wrap="square" anchor="t" lIns="36576" rIns="36576" tIns="18288" bIns="18288">
            <a:spAutoFit/>
          </a:bodyPr>
          <a:lstStyle/>
          <a:p>
            <a:pPr algn="l">
              <a:spcAft>
                <a:spcPts val="400"/>
              </a:spcAft>
            </a:pPr>
            <a:r>
              <a:rPr sz="2600" b="1">
                <a:solidFill>
                  <a:srgbClr val="0F766E"/>
                </a:solidFill>
                <a:latin typeface="Calibri"/>
              </a:rPr>
              <a:t>300 tenders</a:t>
            </a:r>
          </a:p>
        </p:txBody>
      </p:sp>
      <p:sp>
        <p:nvSpPr>
          <p:cNvPr id="16" name="TextBox 15"/>
          <p:cNvSpPr txBox="1"/>
          <p:nvPr/>
        </p:nvSpPr>
        <p:spPr>
          <a:xfrm>
            <a:off x="8714232" y="5614416"/>
            <a:ext cx="2907792" cy="502919"/>
          </a:xfrm>
          <a:prstGeom prst="rect">
            <a:avLst/>
          </a:prstGeom>
          <a:noFill/>
        </p:spPr>
        <p:txBody>
          <a:bodyPr wrap="square" anchor="t" lIns="36576" rIns="36576" tIns="18288" bIns="18288">
            <a:spAutoFit/>
          </a:bodyPr>
          <a:lstStyle/>
          <a:p>
            <a:pPr algn="l">
              <a:spcAft>
                <a:spcPts val="400"/>
              </a:spcAft>
            </a:pPr>
            <a:r>
              <a:rPr sz="1200" b="0">
                <a:solidFill>
                  <a:srgbClr val="1F2937"/>
                </a:solidFill>
                <a:latin typeface="Calibri"/>
              </a:rPr>
              <a:t>replayed as of their notice date to test the whole platform, with nothing later visible</a:t>
            </a:r>
          </a:p>
        </p:txBody>
      </p:sp>
      <p:sp>
        <p:nvSpPr>
          <p:cNvPr id="17" name="TextBox 16"/>
          <p:cNvSpPr txBox="1"/>
          <p:nvPr/>
        </p:nvSpPr>
        <p:spPr>
          <a:xfrm>
            <a:off x="457200" y="6473952"/>
            <a:ext cx="8229600" cy="274320"/>
          </a:xfrm>
          <a:prstGeom prst="rect">
            <a:avLst/>
          </a:prstGeom>
          <a:noFill/>
        </p:spPr>
        <p:txBody>
          <a:bodyPr wrap="square" anchor="t" lIns="36576" rIns="36576" tIns="18288" bIns="18288">
            <a:spAutoFit/>
          </a:bodyPr>
          <a:lstStyle/>
          <a:p>
            <a:pPr algn="l">
              <a:spcAft>
                <a:spcPts val="400"/>
              </a:spcAft>
            </a:pPr>
            <a:r>
              <a:rPr sz="1000" b="0">
                <a:solidFill>
                  <a:srgbClr val="5B6472"/>
                </a:solidFill>
                <a:latin typeface="Calibri"/>
              </a:rPr>
              <a:t>Procurement Intelligence Platform  |  prototype on World Bank open data, Azure Databricks</a:t>
            </a:r>
          </a:p>
        </p:txBody>
      </p:sp>
      <p:sp>
        <p:nvSpPr>
          <p:cNvPr id="18" name="TextBox 17"/>
          <p:cNvSpPr txBox="1"/>
          <p:nvPr/>
        </p:nvSpPr>
        <p:spPr>
          <a:xfrm>
            <a:off x="10972800" y="6473952"/>
            <a:ext cx="758952" cy="274320"/>
          </a:xfrm>
          <a:prstGeom prst="rect">
            <a:avLst/>
          </a:prstGeom>
          <a:noFill/>
        </p:spPr>
        <p:txBody>
          <a:bodyPr wrap="square" anchor="t" lIns="36576" rIns="36576" tIns="18288" bIns="18288">
            <a:spAutoFit/>
          </a:bodyPr>
          <a:lstStyle/>
          <a:p>
            <a:pPr algn="r">
              <a:spcAft>
                <a:spcPts val="400"/>
              </a:spcAft>
            </a:pPr>
            <a:r>
              <a:rPr sz="1000" b="0">
                <a:solidFill>
                  <a:srgbClr val="5B6472"/>
                </a:solidFill>
                <a:latin typeface="Calibri"/>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92608"/>
            <a:ext cx="11247120" cy="640080"/>
          </a:xfrm>
          <a:prstGeom prst="rect">
            <a:avLst/>
          </a:prstGeom>
          <a:noFill/>
        </p:spPr>
        <p:txBody>
          <a:bodyPr wrap="square" anchor="t" lIns="36576" rIns="36576" tIns="18288" bIns="18288">
            <a:spAutoFit/>
          </a:bodyPr>
          <a:lstStyle/>
          <a:p>
            <a:pPr algn="l">
              <a:spcAft>
                <a:spcPts val="400"/>
              </a:spcAft>
            </a:pPr>
            <a:r>
              <a:rPr sz="3000" b="1">
                <a:solidFill>
                  <a:srgbClr val="1F3A5F"/>
                </a:solidFill>
                <a:latin typeface="Calibri"/>
              </a:rPr>
              <a:t>One keyed data model, and a knowledge graph built from it</a:t>
            </a:r>
          </a:p>
        </p:txBody>
      </p:sp>
      <p:sp>
        <p:nvSpPr>
          <p:cNvPr id="3" name="Subtitle"/>
          <p:cNvSpPr txBox="1"/>
          <p:nvPr/>
        </p:nvSpPr>
        <p:spPr>
          <a:xfrm>
            <a:off x="457200" y="896112"/>
            <a:ext cx="11247120" cy="365760"/>
          </a:xfrm>
          <a:prstGeom prst="rect">
            <a:avLst/>
          </a:prstGeom>
          <a:noFill/>
        </p:spPr>
        <p:txBody>
          <a:bodyPr wrap="square" anchor="t" lIns="36576" rIns="36576" tIns="18288" bIns="18288">
            <a:spAutoFit/>
          </a:bodyPr>
          <a:lstStyle/>
          <a:p>
            <a:pPr algn="l">
              <a:spcAft>
                <a:spcPts val="400"/>
              </a:spcAft>
            </a:pPr>
            <a:r>
              <a:rPr sz="1500" b="0">
                <a:solidFill>
                  <a:srgbClr val="5B6472"/>
                </a:solidFill>
                <a:latin typeface="Calibri"/>
              </a:rPr>
              <a:t>Grain and keys first; every graph edge comes from a key that was checked for duplicates and orphans</a:t>
            </a:r>
          </a:p>
        </p:txBody>
      </p:sp>
      <p:pic>
        <p:nvPicPr>
          <p:cNvPr id="4" name="Picture 3" descr="er_kg_slide.png"/>
          <p:cNvPicPr>
            <a:picLocks noChangeAspect="1"/>
          </p:cNvPicPr>
          <p:nvPr/>
        </p:nvPicPr>
        <p:blipFill>
          <a:blip r:embed="rId2"/>
          <a:stretch>
            <a:fillRect/>
          </a:stretch>
        </p:blipFill>
        <p:spPr>
          <a:xfrm>
            <a:off x="457200" y="1325880"/>
            <a:ext cx="7315200" cy="4085968"/>
          </a:xfrm>
          <a:prstGeom prst="rect">
            <a:avLst/>
          </a:prstGeom>
        </p:spPr>
      </p:pic>
      <p:sp>
        <p:nvSpPr>
          <p:cNvPr id="5" name="Rounded Rectangle 4"/>
          <p:cNvSpPr/>
          <p:nvPr/>
        </p:nvSpPr>
        <p:spPr>
          <a:xfrm>
            <a:off x="457200" y="5468112"/>
            <a:ext cx="7315200" cy="914400"/>
          </a:xfrm>
          <a:prstGeom prst="roundRect">
            <a:avLst>
              <a:gd name="adj" fmla="val 6000"/>
            </a:avLst>
          </a:prstGeom>
          <a:solidFill>
            <a:srgbClr val="E6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513832"/>
            <a:ext cx="7040880" cy="841248"/>
          </a:xfrm>
          <a:prstGeom prst="rect">
            <a:avLst/>
          </a:prstGeom>
          <a:noFill/>
        </p:spPr>
        <p:txBody>
          <a:bodyPr wrap="square" anchor="t" lIns="36576" rIns="36576" tIns="18288" bIns="18288">
            <a:spAutoFit/>
          </a:bodyPr>
          <a:lstStyle/>
          <a:p>
            <a:pPr algn="l">
              <a:spcAft>
                <a:spcPts val="400"/>
              </a:spcAft>
            </a:pPr>
            <a:r>
              <a:rPr sz="1250" b="1">
                <a:solidFill>
                  <a:srgbClr val="0F766E"/>
                </a:solidFill>
                <a:latin typeface="Calibri"/>
              </a:rPr>
              <a:t>Brief's example, contract row to ICR lesson:  </a:t>
            </a:r>
            <a:r>
              <a:rPr sz="1250" b="0">
                <a:solidFill>
                  <a:srgbClr val="1F2937"/>
                </a:solidFill>
                <a:latin typeface="Calibri"/>
              </a:rPr>
              <a:t>contract -PART_OF-&gt; project -&gt; completion-report passage of that project, or the nearest passages by embedding within country and sector. Dates decide whether a lesson explains the contract or is a precedent for a new one.</a:t>
            </a:r>
          </a:p>
        </p:txBody>
      </p:sp>
      <p:sp>
        <p:nvSpPr>
          <p:cNvPr id="7" name="TextBox 6"/>
          <p:cNvSpPr txBox="1"/>
          <p:nvPr/>
        </p:nvSpPr>
        <p:spPr>
          <a:xfrm>
            <a:off x="8046720" y="1371600"/>
            <a:ext cx="3685032" cy="310896"/>
          </a:xfrm>
          <a:prstGeom prst="rect">
            <a:avLst/>
          </a:prstGeom>
          <a:noFill/>
        </p:spPr>
        <p:txBody>
          <a:bodyPr wrap="square" anchor="t" lIns="36576" rIns="36576" tIns="18288" bIns="18288">
            <a:spAutoFit/>
          </a:bodyPr>
          <a:lstStyle/>
          <a:p>
            <a:pPr algn="l">
              <a:spcAft>
                <a:spcPts val="400"/>
              </a:spcAft>
            </a:pPr>
            <a:r>
              <a:rPr sz="1500" b="1">
                <a:solidFill>
                  <a:srgbClr val="1F3A5F"/>
                </a:solidFill>
                <a:latin typeface="Calibri"/>
              </a:rPr>
              <a:t>Entity resolution</a:t>
            </a:r>
          </a:p>
        </p:txBody>
      </p:sp>
      <p:sp>
        <p:nvSpPr>
          <p:cNvPr id="8" name="TextBox 7"/>
          <p:cNvSpPr txBox="1"/>
          <p:nvPr/>
        </p:nvSpPr>
        <p:spPr>
          <a:xfrm>
            <a:off x="8046720" y="1700784"/>
            <a:ext cx="3685032" cy="1097280"/>
          </a:xfrm>
          <a:prstGeom prst="rect">
            <a:avLst/>
          </a:prstGeom>
          <a:noFill/>
        </p:spPr>
        <p:txBody>
          <a:bodyPr wrap="square" anchor="t" lIns="36576" rIns="36576" tIns="18288" bIns="18288">
            <a:spAutoFit/>
          </a:bodyPr>
          <a:lstStyle/>
          <a:p>
            <a:pPr algn="l">
              <a:spcAft>
                <a:spcPts val="300"/>
              </a:spcAft>
            </a:pPr>
            <a:r>
              <a:rPr sz="1350" b="1">
                <a:solidFill>
                  <a:srgbClr val="0F766E"/>
                </a:solidFill>
                <a:latin typeface="Calibri"/>
              </a:rPr>
              <a:t>•  </a:t>
            </a:r>
            <a:r>
              <a:rPr sz="1350" b="0">
                <a:solidFill>
                  <a:srgbClr val="1F2937"/>
                </a:solidFill>
                <a:latin typeface="Calibri"/>
              </a:rPr>
              <a:t>blocked by country; TF-IDF trigrams</a:t>
            </a:r>
          </a:p>
          <a:p>
            <a:pPr algn="l">
              <a:spcAft>
                <a:spcPts val="300"/>
              </a:spcAft>
            </a:pPr>
            <a:r>
              <a:rPr sz="1350" b="1">
                <a:solidFill>
                  <a:srgbClr val="0F766E"/>
                </a:solidFill>
                <a:latin typeface="Calibri"/>
              </a:rPr>
              <a:t>•  </a:t>
            </a:r>
            <a:r>
              <a:rPr sz="1350" b="0">
                <a:solidFill>
                  <a:srgbClr val="1F2937"/>
                </a:solidFill>
                <a:latin typeface="Calibri"/>
              </a:rPr>
              <a:t>rules stop chaining; common names not merged</a:t>
            </a:r>
          </a:p>
          <a:p>
            <a:pPr algn="l">
              <a:spcAft>
                <a:spcPts val="300"/>
              </a:spcAft>
            </a:pPr>
            <a:r>
              <a:rPr sz="1350" b="1">
                <a:solidFill>
                  <a:srgbClr val="0F766E"/>
                </a:solidFill>
                <a:latin typeface="Calibri"/>
              </a:rPr>
              <a:t>•  </a:t>
            </a:r>
            <a:r>
              <a:rPr sz="1350" b="0">
                <a:solidFill>
                  <a:srgbClr val="1F2937"/>
                </a:solidFill>
                <a:latin typeface="Calibri"/>
              </a:rPr>
              <a:t>P 1.00, R 0.90 on 97 pairs; audit 34 of 40</a:t>
            </a:r>
          </a:p>
        </p:txBody>
      </p:sp>
      <p:sp>
        <p:nvSpPr>
          <p:cNvPr id="9" name="TextBox 8"/>
          <p:cNvSpPr txBox="1"/>
          <p:nvPr/>
        </p:nvSpPr>
        <p:spPr>
          <a:xfrm>
            <a:off x="8046720" y="3063240"/>
            <a:ext cx="3685032" cy="310896"/>
          </a:xfrm>
          <a:prstGeom prst="rect">
            <a:avLst/>
          </a:prstGeom>
          <a:noFill/>
        </p:spPr>
        <p:txBody>
          <a:bodyPr wrap="square" anchor="t" lIns="36576" rIns="36576" tIns="18288" bIns="18288">
            <a:spAutoFit/>
          </a:bodyPr>
          <a:lstStyle/>
          <a:p>
            <a:pPr algn="l">
              <a:spcAft>
                <a:spcPts val="400"/>
              </a:spcAft>
            </a:pPr>
            <a:r>
              <a:rPr sz="1500" b="1">
                <a:solidFill>
                  <a:srgbClr val="1F3A5F"/>
                </a:solidFill>
                <a:latin typeface="Calibri"/>
              </a:rPr>
              <a:t>Tender timelines</a:t>
            </a:r>
          </a:p>
        </p:txBody>
      </p:sp>
      <p:sp>
        <p:nvSpPr>
          <p:cNvPr id="10" name="TextBox 9"/>
          <p:cNvSpPr txBox="1"/>
          <p:nvPr/>
        </p:nvSpPr>
        <p:spPr>
          <a:xfrm>
            <a:off x="8046720" y="3392424"/>
            <a:ext cx="3685032" cy="1097280"/>
          </a:xfrm>
          <a:prstGeom prst="rect">
            <a:avLst/>
          </a:prstGeom>
          <a:noFill/>
        </p:spPr>
        <p:txBody>
          <a:bodyPr wrap="square" anchor="t" lIns="36576" rIns="36576" tIns="18288" bIns="18288">
            <a:spAutoFit/>
          </a:bodyPr>
          <a:lstStyle/>
          <a:p>
            <a:pPr algn="l">
              <a:spcAft>
                <a:spcPts val="300"/>
              </a:spcAft>
            </a:pPr>
            <a:r>
              <a:rPr sz="1350" b="1">
                <a:solidFill>
                  <a:srgbClr val="0F766E"/>
                </a:solidFill>
                <a:latin typeface="Calibri"/>
              </a:rPr>
              <a:t>•  </a:t>
            </a:r>
            <a:r>
              <a:rPr sz="1350" b="0">
                <a:solidFill>
                  <a:srgbClr val="1F2937"/>
                </a:solidFill>
                <a:latin typeface="Calibri"/>
              </a:rPr>
              <a:t>notice-contract links in 4 tiers, each audited</a:t>
            </a:r>
          </a:p>
          <a:p>
            <a:pPr algn="l">
              <a:spcAft>
                <a:spcPts val="300"/>
              </a:spcAft>
            </a:pPr>
            <a:r>
              <a:rPr sz="1350" b="1">
                <a:solidFill>
                  <a:srgbClr val="0F766E"/>
                </a:solidFill>
                <a:latin typeface="Calibri"/>
              </a:rPr>
              <a:t>•  </a:t>
            </a:r>
            <a:r>
              <a:rPr sz="1350" b="0">
                <a:solidFill>
                  <a:srgbClr val="1F2937"/>
                </a:solidFill>
                <a:latin typeface="Calibri"/>
              </a:rPr>
              <a:t>44.9% of open contracts timed; median 158 days</a:t>
            </a:r>
          </a:p>
          <a:p>
            <a:pPr algn="l">
              <a:spcAft>
                <a:spcPts val="300"/>
              </a:spcAft>
            </a:pPr>
            <a:r>
              <a:rPr sz="1350" b="1">
                <a:solidFill>
                  <a:srgbClr val="0F766E"/>
                </a:solidFill>
                <a:latin typeface="Calibri"/>
              </a:rPr>
              <a:t>•  </a:t>
            </a:r>
            <a:r>
              <a:rPr sz="1350" b="0">
                <a:solidFill>
                  <a:srgbClr val="1F2937"/>
                </a:solidFill>
                <a:latin typeface="Calibri"/>
              </a:rPr>
              <a:t>joint-venture amounts kept once per contract</a:t>
            </a:r>
          </a:p>
        </p:txBody>
      </p:sp>
      <p:sp>
        <p:nvSpPr>
          <p:cNvPr id="11" name="TextBox 10"/>
          <p:cNvSpPr txBox="1"/>
          <p:nvPr/>
        </p:nvSpPr>
        <p:spPr>
          <a:xfrm>
            <a:off x="8046720" y="4754880"/>
            <a:ext cx="3685032" cy="310896"/>
          </a:xfrm>
          <a:prstGeom prst="rect">
            <a:avLst/>
          </a:prstGeom>
          <a:noFill/>
        </p:spPr>
        <p:txBody>
          <a:bodyPr wrap="square" anchor="t" lIns="36576" rIns="36576" tIns="18288" bIns="18288">
            <a:spAutoFit/>
          </a:bodyPr>
          <a:lstStyle/>
          <a:p>
            <a:pPr algn="l">
              <a:spcAft>
                <a:spcPts val="400"/>
              </a:spcAft>
            </a:pPr>
            <a:r>
              <a:rPr sz="1500" b="1">
                <a:solidFill>
                  <a:srgbClr val="1F3A5F"/>
                </a:solidFill>
                <a:latin typeface="Calibri"/>
              </a:rPr>
              <a:t>Knowledge graph in Delta</a:t>
            </a:r>
          </a:p>
        </p:txBody>
      </p:sp>
      <p:sp>
        <p:nvSpPr>
          <p:cNvPr id="12" name="TextBox 11"/>
          <p:cNvSpPr txBox="1"/>
          <p:nvPr/>
        </p:nvSpPr>
        <p:spPr>
          <a:xfrm>
            <a:off x="8046720" y="5084064"/>
            <a:ext cx="3685032" cy="822959"/>
          </a:xfrm>
          <a:prstGeom prst="rect">
            <a:avLst/>
          </a:prstGeom>
          <a:noFill/>
        </p:spPr>
        <p:txBody>
          <a:bodyPr wrap="square" anchor="t" lIns="36576" rIns="36576" tIns="18288" bIns="18288">
            <a:spAutoFit/>
          </a:bodyPr>
          <a:lstStyle/>
          <a:p>
            <a:pPr algn="l">
              <a:spcAft>
                <a:spcPts val="300"/>
              </a:spcAft>
            </a:pPr>
            <a:r>
              <a:rPr sz="1350" b="1">
                <a:solidFill>
                  <a:srgbClr val="0F766E"/>
                </a:solidFill>
                <a:latin typeface="Calibri"/>
              </a:rPr>
              <a:t>•  </a:t>
            </a:r>
            <a:r>
              <a:rPr sz="1350" b="0">
                <a:solidFill>
                  <a:srgbClr val="1F2937"/>
                </a:solidFill>
                <a:latin typeface="Calibri"/>
              </a:rPr>
              <a:t>1.03M nodes, 2.28M edges, 0 dangling</a:t>
            </a:r>
          </a:p>
          <a:p>
            <a:pPr algn="l">
              <a:spcAft>
                <a:spcPts val="300"/>
              </a:spcAft>
            </a:pPr>
            <a:r>
              <a:rPr sz="1350" b="1">
                <a:solidFill>
                  <a:srgbClr val="0F766E"/>
                </a:solidFill>
                <a:latin typeface="Calibri"/>
              </a:rPr>
              <a:t>•  </a:t>
            </a:r>
            <a:r>
              <a:rPr sz="1350" b="0">
                <a:solidFill>
                  <a:srgbClr val="1F2937"/>
                </a:solidFill>
                <a:latin typeface="Calibri"/>
              </a:rPr>
              <a:t>same answer from SQL joins and GraphFrames</a:t>
            </a:r>
          </a:p>
        </p:txBody>
      </p:sp>
      <p:sp>
        <p:nvSpPr>
          <p:cNvPr id="13" name="TextBox 12"/>
          <p:cNvSpPr txBox="1"/>
          <p:nvPr/>
        </p:nvSpPr>
        <p:spPr>
          <a:xfrm>
            <a:off x="457200" y="6473952"/>
            <a:ext cx="8229600" cy="274320"/>
          </a:xfrm>
          <a:prstGeom prst="rect">
            <a:avLst/>
          </a:prstGeom>
          <a:noFill/>
        </p:spPr>
        <p:txBody>
          <a:bodyPr wrap="square" anchor="t" lIns="36576" rIns="36576" tIns="18288" bIns="18288">
            <a:spAutoFit/>
          </a:bodyPr>
          <a:lstStyle/>
          <a:p>
            <a:pPr algn="l">
              <a:spcAft>
                <a:spcPts val="400"/>
              </a:spcAft>
            </a:pPr>
            <a:r>
              <a:rPr sz="1000" b="0">
                <a:solidFill>
                  <a:srgbClr val="5B6472"/>
                </a:solidFill>
                <a:latin typeface="Calibri"/>
              </a:rPr>
              <a:t>Procurement Intelligence Platform  |  prototype on World Bank open data, Azure Databricks</a:t>
            </a:r>
          </a:p>
        </p:txBody>
      </p:sp>
      <p:sp>
        <p:nvSpPr>
          <p:cNvPr id="14" name="TextBox 13"/>
          <p:cNvSpPr txBox="1"/>
          <p:nvPr/>
        </p:nvSpPr>
        <p:spPr>
          <a:xfrm>
            <a:off x="10972800" y="6473952"/>
            <a:ext cx="758952" cy="274320"/>
          </a:xfrm>
          <a:prstGeom prst="rect">
            <a:avLst/>
          </a:prstGeom>
          <a:noFill/>
        </p:spPr>
        <p:txBody>
          <a:bodyPr wrap="square" anchor="t" lIns="36576" rIns="36576" tIns="18288" bIns="18288">
            <a:spAutoFit/>
          </a:bodyPr>
          <a:lstStyle/>
          <a:p>
            <a:pPr algn="r">
              <a:spcAft>
                <a:spcPts val="400"/>
              </a:spcAft>
            </a:pPr>
            <a:r>
              <a:rPr sz="1000" b="0">
                <a:solidFill>
                  <a:srgbClr val="5B6472"/>
                </a:solidFill>
                <a:latin typeface="Calibri"/>
              </a:rPr>
              <a:t>2 /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92608"/>
            <a:ext cx="11247120" cy="640080"/>
          </a:xfrm>
          <a:prstGeom prst="rect">
            <a:avLst/>
          </a:prstGeom>
          <a:noFill/>
        </p:spPr>
        <p:txBody>
          <a:bodyPr wrap="square" anchor="t" lIns="36576" rIns="36576" tIns="18288" bIns="18288">
            <a:spAutoFit/>
          </a:bodyPr>
          <a:lstStyle/>
          <a:p>
            <a:pPr algn="l">
              <a:spcAft>
                <a:spcPts val="400"/>
              </a:spcAft>
            </a:pPr>
            <a:r>
              <a:rPr sz="3000" b="1">
                <a:solidFill>
                  <a:srgbClr val="1F3A5F"/>
                </a:solidFill>
                <a:latin typeface="Calibri"/>
              </a:rPr>
              <a:t>A calibrated duration model and an agent that must cite</a:t>
            </a:r>
          </a:p>
        </p:txBody>
      </p:sp>
      <p:sp>
        <p:nvSpPr>
          <p:cNvPr id="3" name="Subtitle"/>
          <p:cNvSpPr txBox="1"/>
          <p:nvPr/>
        </p:nvSpPr>
        <p:spPr>
          <a:xfrm>
            <a:off x="457200" y="896112"/>
            <a:ext cx="11247120" cy="365760"/>
          </a:xfrm>
          <a:prstGeom prst="rect">
            <a:avLst/>
          </a:prstGeom>
          <a:noFill/>
        </p:spPr>
        <p:txBody>
          <a:bodyPr wrap="square" anchor="t" lIns="36576" rIns="36576" tIns="18288" bIns="18288">
            <a:spAutoFit/>
          </a:bodyPr>
          <a:lstStyle/>
          <a:p>
            <a:pPr algn="l">
              <a:spcAft>
                <a:spcPts val="400"/>
              </a:spcAft>
            </a:pPr>
            <a:r>
              <a:rPr sz="1500" b="0">
                <a:solidFill>
                  <a:srgbClr val="5B6472"/>
                </a:solidFill>
                <a:latin typeface="Calibri"/>
              </a:rPr>
              <a:t>Statistics come from models and tables; the LLM plans, retrieves and writes, and code checks what it wrote</a:t>
            </a:r>
          </a:p>
        </p:txBody>
      </p:sp>
      <p:pic>
        <p:nvPicPr>
          <p:cNvPr id="4" name="Picture 3" descr="agent.png"/>
          <p:cNvPicPr>
            <a:picLocks noChangeAspect="1"/>
          </p:cNvPicPr>
          <p:nvPr/>
        </p:nvPicPr>
        <p:blipFill>
          <a:blip r:embed="rId2"/>
          <a:stretch>
            <a:fillRect/>
          </a:stretch>
        </p:blipFill>
        <p:spPr>
          <a:xfrm>
            <a:off x="1280160" y="1280160"/>
            <a:ext cx="9601200" cy="2816352"/>
          </a:xfrm>
          <a:prstGeom prst="rect">
            <a:avLst/>
          </a:prstGeom>
        </p:spPr>
      </p:pic>
      <p:sp>
        <p:nvSpPr>
          <p:cNvPr id="5" name="Rounded Rectangle 4"/>
          <p:cNvSpPr/>
          <p:nvPr/>
        </p:nvSpPr>
        <p:spPr>
          <a:xfrm>
            <a:off x="457200" y="4206240"/>
            <a:ext cx="3621024" cy="1965960"/>
          </a:xfrm>
          <a:prstGeom prst="roundRect">
            <a:avLst>
              <a:gd name="adj" fmla="val 6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4261104"/>
            <a:ext cx="3337560" cy="310896"/>
          </a:xfrm>
          <a:prstGeom prst="rect">
            <a:avLst/>
          </a:prstGeom>
          <a:noFill/>
        </p:spPr>
        <p:txBody>
          <a:bodyPr wrap="square" anchor="t" lIns="36576" rIns="36576" tIns="18288" bIns="18288">
            <a:spAutoFit/>
          </a:bodyPr>
          <a:lstStyle/>
          <a:p>
            <a:pPr algn="l">
              <a:spcAft>
                <a:spcPts val="400"/>
              </a:spcAft>
            </a:pPr>
            <a:r>
              <a:rPr sz="1500" b="1">
                <a:solidFill>
                  <a:srgbClr val="1F3A5F"/>
                </a:solidFill>
                <a:latin typeface="Calibri"/>
              </a:rPr>
              <a:t>Duration model</a:t>
            </a:r>
          </a:p>
        </p:txBody>
      </p:sp>
      <p:sp>
        <p:nvSpPr>
          <p:cNvPr id="7" name="TextBox 6"/>
          <p:cNvSpPr txBox="1"/>
          <p:nvPr/>
        </p:nvSpPr>
        <p:spPr>
          <a:xfrm>
            <a:off x="612648" y="4590288"/>
            <a:ext cx="3337560" cy="1097280"/>
          </a:xfrm>
          <a:prstGeom prst="rect">
            <a:avLst/>
          </a:prstGeom>
          <a:noFill/>
        </p:spPr>
        <p:txBody>
          <a:bodyPr wrap="square" anchor="t" lIns="36576" rIns="36576" tIns="18288" bIns="18288">
            <a:spAutoFit/>
          </a:bodyPr>
          <a:lstStyle/>
          <a:p>
            <a:pPr algn="l">
              <a:spcAft>
                <a:spcPts val="300"/>
              </a:spcAft>
            </a:pPr>
            <a:r>
              <a:rPr sz="1250" b="1">
                <a:solidFill>
                  <a:srgbClr val="0F766E"/>
                </a:solidFill>
                <a:latin typeface="Calibri"/>
              </a:rPr>
              <a:t>•  </a:t>
            </a:r>
            <a:r>
              <a:rPr sz="1250" b="0">
                <a:solidFill>
                  <a:srgbClr val="1F2937"/>
                </a:solidFill>
                <a:latin typeface="Calibri"/>
              </a:rPr>
              <a:t>trained only on fully observable cohorts</a:t>
            </a:r>
          </a:p>
          <a:p>
            <a:pPr algn="l">
              <a:spcAft>
                <a:spcPts val="300"/>
              </a:spcAft>
            </a:pPr>
            <a:r>
              <a:rPr sz="1250" b="1">
                <a:solidFill>
                  <a:srgbClr val="0F766E"/>
                </a:solidFill>
                <a:latin typeface="Calibri"/>
              </a:rPr>
              <a:t>•  </a:t>
            </a:r>
            <a:r>
              <a:rPr sz="1250" b="0">
                <a:solidFill>
                  <a:srgbClr val="1F2937"/>
                </a:solidFill>
                <a:latin typeface="Calibri"/>
              </a:rPr>
              <a:t>conformal P10-P90: 80.7% coverage</a:t>
            </a:r>
          </a:p>
          <a:p>
            <a:pPr algn="l">
              <a:spcAft>
                <a:spcPts val="300"/>
              </a:spcAft>
            </a:pPr>
            <a:r>
              <a:rPr sz="1250" b="1">
                <a:solidFill>
                  <a:srgbClr val="0F766E"/>
                </a:solidFill>
                <a:latin typeface="Calibri"/>
              </a:rPr>
              <a:t>•  </a:t>
            </a:r>
            <a:r>
              <a:rPr sz="1250" b="0">
                <a:solidFill>
                  <a:srgbClr val="1F2937"/>
                </a:solidFill>
                <a:latin typeface="Calibri"/>
              </a:rPr>
              <a:t>package fields only: 91 vs 85 days for the peer group; with notice facts 60 (20 indicative cases)</a:t>
            </a:r>
          </a:p>
        </p:txBody>
      </p:sp>
      <p:sp>
        <p:nvSpPr>
          <p:cNvPr id="8" name="Rounded Rectangle 7"/>
          <p:cNvSpPr/>
          <p:nvPr/>
        </p:nvSpPr>
        <p:spPr>
          <a:xfrm>
            <a:off x="4261104" y="4206240"/>
            <a:ext cx="3621024" cy="1965960"/>
          </a:xfrm>
          <a:prstGeom prst="roundRect">
            <a:avLst>
              <a:gd name="adj" fmla="val 6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4261104"/>
            <a:ext cx="3337560" cy="310896"/>
          </a:xfrm>
          <a:prstGeom prst="rect">
            <a:avLst/>
          </a:prstGeom>
          <a:noFill/>
        </p:spPr>
        <p:txBody>
          <a:bodyPr wrap="square" anchor="t" lIns="36576" rIns="36576" tIns="18288" bIns="18288">
            <a:spAutoFit/>
          </a:bodyPr>
          <a:lstStyle/>
          <a:p>
            <a:pPr algn="l">
              <a:spcAft>
                <a:spcPts val="400"/>
              </a:spcAft>
            </a:pPr>
            <a:r>
              <a:rPr sz="1500" b="1">
                <a:solidFill>
                  <a:srgbClr val="1F3A5F"/>
                </a:solidFill>
                <a:latin typeface="Calibri"/>
              </a:rPr>
              <a:t>Tender and execution checks</a:t>
            </a:r>
          </a:p>
        </p:txBody>
      </p:sp>
      <p:sp>
        <p:nvSpPr>
          <p:cNvPr id="10" name="TextBox 9"/>
          <p:cNvSpPr txBox="1"/>
          <p:nvPr/>
        </p:nvSpPr>
        <p:spPr>
          <a:xfrm>
            <a:off x="4416552" y="4590288"/>
            <a:ext cx="3337560" cy="822959"/>
          </a:xfrm>
          <a:prstGeom prst="rect">
            <a:avLst/>
          </a:prstGeom>
          <a:noFill/>
        </p:spPr>
        <p:txBody>
          <a:bodyPr wrap="square" anchor="t" lIns="36576" rIns="36576" tIns="18288" bIns="18288">
            <a:spAutoFit/>
          </a:bodyPr>
          <a:lstStyle/>
          <a:p>
            <a:pPr algn="l">
              <a:spcAft>
                <a:spcPts val="300"/>
              </a:spcAft>
            </a:pPr>
            <a:r>
              <a:rPr sz="1250" b="1">
                <a:solidFill>
                  <a:srgbClr val="0F766E"/>
                </a:solidFill>
                <a:latin typeface="Calibri"/>
              </a:rPr>
              <a:t>•  </a:t>
            </a:r>
            <a:r>
              <a:rPr sz="1250" b="0">
                <a:solidFill>
                  <a:srgbClr val="1F2937"/>
                </a:solidFill>
                <a:latin typeface="Calibri"/>
              </a:rPr>
              <a:t>672 of 1,939 international tenders advertised &lt; 30 business days: 4.9 vs 5.6 bidders</a:t>
            </a:r>
          </a:p>
          <a:p>
            <a:pPr algn="l">
              <a:spcAft>
                <a:spcPts val="300"/>
              </a:spcAft>
            </a:pPr>
            <a:r>
              <a:rPr sz="1250" b="1">
                <a:solidFill>
                  <a:srgbClr val="0F766E"/>
                </a:solidFill>
                <a:latin typeface="Calibri"/>
              </a:rPr>
              <a:t>•  </a:t>
            </a:r>
            <a:r>
              <a:rPr sz="1250" b="0">
                <a:solidFill>
                  <a:srgbClr val="1F2937"/>
                </a:solidFill>
                <a:latin typeface="Calibri"/>
              </a:rPr>
              <a:t>1,340 active projects: 73 red, 238 amber, reasons cited</a:t>
            </a:r>
          </a:p>
        </p:txBody>
      </p:sp>
      <p:sp>
        <p:nvSpPr>
          <p:cNvPr id="11" name="Rounded Rectangle 10"/>
          <p:cNvSpPr/>
          <p:nvPr/>
        </p:nvSpPr>
        <p:spPr>
          <a:xfrm>
            <a:off x="8065008" y="4206240"/>
            <a:ext cx="3666744" cy="1965960"/>
          </a:xfrm>
          <a:prstGeom prst="roundRect">
            <a:avLst>
              <a:gd name="adj" fmla="val 6000"/>
            </a:avLst>
          </a:prstGeom>
          <a:solidFill>
            <a:srgbClr val="FFFFFF"/>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11312" y="4261104"/>
            <a:ext cx="3401568" cy="2057400"/>
          </a:xfrm>
          <a:prstGeom prst="rect">
            <a:avLst/>
          </a:prstGeom>
          <a:noFill/>
        </p:spPr>
        <p:txBody>
          <a:bodyPr wrap="square" anchor="t" lIns="36576" rIns="36576" tIns="18288" bIns="18288">
            <a:spAutoFit/>
          </a:bodyPr>
          <a:lstStyle/>
          <a:p>
            <a:pPr algn="l">
              <a:spcAft>
                <a:spcPts val="600"/>
              </a:spcAft>
            </a:pPr>
            <a:r>
              <a:rPr sz="1500" b="1">
                <a:solidFill>
                  <a:srgbClr val="0F766E"/>
                </a:solidFill>
                <a:latin typeface="Calibri"/>
              </a:rPr>
              <a:t>Brief excerpt: rural roads, Kenya</a:t>
            </a:r>
          </a:p>
          <a:p>
            <a:pPr algn="l">
              <a:spcAft>
                <a:spcPts val="600"/>
              </a:spcAft>
            </a:pPr>
            <a:r>
              <a:rPr sz="1250" b="0">
                <a:solidFill>
                  <a:srgbClr val="1F2937"/>
                </a:solidFill>
                <a:latin typeface="Calibri"/>
              </a:rPr>
              <a:t>Timeline: median 119 days to signing, P90 540. </a:t>
            </a:r>
            <a:r>
              <a:rPr sz="1050" b="0">
                <a:solidFill>
                  <a:srgbClr val="5B6472"/>
                </a:solidFill>
                <a:latin typeface="Calibri"/>
              </a:rPr>
              <a:t>[benchmark:country_method_category-5fa286a9]</a:t>
            </a:r>
          </a:p>
          <a:p>
            <a:pPr algn="l">
              <a:spcAft>
                <a:spcPts val="600"/>
              </a:spcAft>
            </a:pPr>
            <a:r>
              <a:rPr sz="1250" b="0">
                <a:solidFill>
                  <a:srgbClr val="1F2937"/>
                </a:solidFill>
                <a:latin typeface="Calibri"/>
              </a:rPr>
              <a:t>Risk: works awarded in the rainy season stall; sequence awards to the dry season. </a:t>
            </a:r>
            <a:r>
              <a:rPr sz="1050" b="0">
                <a:solidFill>
                  <a:srgbClr val="5B6472"/>
                </a:solidFill>
                <a:latin typeface="Calibri"/>
              </a:rPr>
              <a:t>[lesson_chunk:P123828-34118211-0110]</a:t>
            </a:r>
          </a:p>
        </p:txBody>
      </p:sp>
      <p:sp>
        <p:nvSpPr>
          <p:cNvPr id="13" name="TextBox 12"/>
          <p:cNvSpPr txBox="1"/>
          <p:nvPr/>
        </p:nvSpPr>
        <p:spPr>
          <a:xfrm>
            <a:off x="457200" y="6473952"/>
            <a:ext cx="8229600" cy="274320"/>
          </a:xfrm>
          <a:prstGeom prst="rect">
            <a:avLst/>
          </a:prstGeom>
          <a:noFill/>
        </p:spPr>
        <p:txBody>
          <a:bodyPr wrap="square" anchor="t" lIns="36576" rIns="36576" tIns="18288" bIns="18288">
            <a:spAutoFit/>
          </a:bodyPr>
          <a:lstStyle/>
          <a:p>
            <a:pPr algn="l">
              <a:spcAft>
                <a:spcPts val="400"/>
              </a:spcAft>
            </a:pPr>
            <a:r>
              <a:rPr sz="1000" b="0">
                <a:solidFill>
                  <a:srgbClr val="5B6472"/>
                </a:solidFill>
                <a:latin typeface="Calibri"/>
              </a:rPr>
              <a:t>Procurement Intelligence Platform  |  prototype on World Bank open data, Azure Databricks</a:t>
            </a:r>
          </a:p>
        </p:txBody>
      </p:sp>
      <p:sp>
        <p:nvSpPr>
          <p:cNvPr id="14" name="TextBox 13"/>
          <p:cNvSpPr txBox="1"/>
          <p:nvPr/>
        </p:nvSpPr>
        <p:spPr>
          <a:xfrm>
            <a:off x="10972800" y="6473952"/>
            <a:ext cx="758952" cy="274320"/>
          </a:xfrm>
          <a:prstGeom prst="rect">
            <a:avLst/>
          </a:prstGeom>
          <a:noFill/>
        </p:spPr>
        <p:txBody>
          <a:bodyPr wrap="square" anchor="t" lIns="36576" rIns="36576" tIns="18288" bIns="18288">
            <a:spAutoFit/>
          </a:bodyPr>
          <a:lstStyle/>
          <a:p>
            <a:pPr algn="r">
              <a:spcAft>
                <a:spcPts val="400"/>
              </a:spcAft>
            </a:pPr>
            <a:r>
              <a:rPr sz="1000" b="0">
                <a:solidFill>
                  <a:srgbClr val="5B6472"/>
                </a:solidFill>
                <a:latin typeface="Calibri"/>
              </a:rPr>
              <a:t>3 /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92608"/>
            <a:ext cx="11247120" cy="640080"/>
          </a:xfrm>
          <a:prstGeom prst="rect">
            <a:avLst/>
          </a:prstGeom>
          <a:noFill/>
        </p:spPr>
        <p:txBody>
          <a:bodyPr wrap="square" anchor="t" lIns="36576" rIns="36576" tIns="18288" bIns="18288">
            <a:spAutoFit/>
          </a:bodyPr>
          <a:lstStyle/>
          <a:p>
            <a:pPr algn="l">
              <a:spcAft>
                <a:spcPts val="400"/>
              </a:spcAft>
            </a:pPr>
            <a:r>
              <a:rPr sz="3000" b="1">
                <a:solidFill>
                  <a:srgbClr val="1F3A5F"/>
                </a:solidFill>
                <a:latin typeface="Calibri"/>
              </a:rPr>
              <a:t>Trust: a backtest as of the notice date, flagged conflicts, stated gaps</a:t>
            </a:r>
          </a:p>
        </p:txBody>
      </p:sp>
      <p:sp>
        <p:nvSpPr>
          <p:cNvPr id="3" name="Subtitle"/>
          <p:cNvSpPr txBox="1"/>
          <p:nvPr/>
        </p:nvSpPr>
        <p:spPr>
          <a:xfrm>
            <a:off x="457200" y="896112"/>
            <a:ext cx="11247120" cy="365760"/>
          </a:xfrm>
          <a:prstGeom prst="rect">
            <a:avLst/>
          </a:prstGeom>
          <a:noFill/>
        </p:spPr>
        <p:txBody>
          <a:bodyPr wrap="square" anchor="t" lIns="36576" rIns="36576" tIns="18288" bIns="18288">
            <a:spAutoFit/>
          </a:bodyPr>
          <a:lstStyle/>
          <a:p>
            <a:pPr algn="l">
              <a:spcAft>
                <a:spcPts val="400"/>
              </a:spcAft>
            </a:pPr>
            <a:r>
              <a:rPr sz="1500" b="0">
                <a:solidFill>
                  <a:srgbClr val="5B6472"/>
                </a:solidFill>
                <a:latin typeface="Calibri"/>
              </a:rPr>
              <a:t>300 real tenders replayed with everything later hidden; the deployed model's in-sample score is shown as a leak</a:t>
            </a:r>
          </a:p>
        </p:txBody>
      </p:sp>
      <p:pic>
        <p:nvPicPr>
          <p:cNvPr id="4" name="Picture 3" descr="results.png"/>
          <p:cNvPicPr>
            <a:picLocks noChangeAspect="1"/>
          </p:cNvPicPr>
          <p:nvPr/>
        </p:nvPicPr>
        <p:blipFill>
          <a:blip r:embed="rId2"/>
          <a:stretch>
            <a:fillRect/>
          </a:stretch>
        </p:blipFill>
        <p:spPr>
          <a:xfrm>
            <a:off x="457200" y="1371600"/>
            <a:ext cx="6766560" cy="2276025"/>
          </a:xfrm>
          <a:prstGeom prst="rect">
            <a:avLst/>
          </a:prstGeom>
        </p:spPr>
      </p:pic>
      <p:sp>
        <p:nvSpPr>
          <p:cNvPr id="5" name="Rounded Rectangle 4"/>
          <p:cNvSpPr/>
          <p:nvPr/>
        </p:nvSpPr>
        <p:spPr>
          <a:xfrm>
            <a:off x="457200" y="3794760"/>
            <a:ext cx="6766560" cy="1783080"/>
          </a:xfrm>
          <a:prstGeom prst="roundRect">
            <a:avLst>
              <a:gd name="adj" fmla="val 6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3849624"/>
            <a:ext cx="6492240" cy="310896"/>
          </a:xfrm>
          <a:prstGeom prst="rect">
            <a:avLst/>
          </a:prstGeom>
          <a:noFill/>
        </p:spPr>
        <p:txBody>
          <a:bodyPr wrap="square" anchor="t" lIns="36576" rIns="36576" tIns="18288" bIns="18288">
            <a:spAutoFit/>
          </a:bodyPr>
          <a:lstStyle/>
          <a:p>
            <a:pPr algn="l">
              <a:spcAft>
                <a:spcPts val="400"/>
              </a:spcAft>
            </a:pPr>
            <a:r>
              <a:rPr sz="1500" b="1">
                <a:solidFill>
                  <a:srgbClr val="1F3A5F"/>
                </a:solidFill>
                <a:latin typeface="Calibri"/>
              </a:rPr>
              <a:t>Backtest on 300 replayed tenders</a:t>
            </a:r>
          </a:p>
        </p:txBody>
      </p:sp>
      <p:sp>
        <p:nvSpPr>
          <p:cNvPr id="7" name="TextBox 6"/>
          <p:cNvSpPr txBox="1"/>
          <p:nvPr/>
        </p:nvSpPr>
        <p:spPr>
          <a:xfrm>
            <a:off x="621792" y="4178808"/>
            <a:ext cx="6492240" cy="1371600"/>
          </a:xfrm>
          <a:prstGeom prst="rect">
            <a:avLst/>
          </a:prstGeom>
          <a:noFill/>
        </p:spPr>
        <p:txBody>
          <a:bodyPr wrap="square" anchor="t" lIns="36576" rIns="36576" tIns="18288" bIns="18288">
            <a:spAutoFit/>
          </a:bodyPr>
          <a:lstStyle/>
          <a:p>
            <a:pPr algn="l">
              <a:spcAft>
                <a:spcPts val="300"/>
              </a:spcAft>
            </a:pPr>
            <a:r>
              <a:rPr sz="1250" b="1">
                <a:solidFill>
                  <a:srgbClr val="0F766E"/>
                </a:solidFill>
                <a:latin typeface="Calibri"/>
              </a:rPr>
              <a:t>•  </a:t>
            </a:r>
            <a:r>
              <a:rPr sz="1250" b="0">
                <a:solidFill>
                  <a:srgbClr val="1F2937"/>
                </a:solidFill>
                <a:latin typeface="Calibri"/>
              </a:rPr>
              <a:t>timeline error 87 days (95% CI 77-98) vs 100 for the peer lookup; slow-flag AUC 0.74 vs 0.58</a:t>
            </a:r>
          </a:p>
          <a:p>
            <a:pPr algn="l">
              <a:spcAft>
                <a:spcPts val="300"/>
              </a:spcAft>
            </a:pPr>
            <a:r>
              <a:rPr sz="1250" b="1">
                <a:solidFill>
                  <a:srgbClr val="0F766E"/>
                </a:solidFill>
                <a:latin typeface="Calibri"/>
              </a:rPr>
              <a:t>•  </a:t>
            </a:r>
            <a:r>
              <a:rPr sz="1250" b="0">
                <a:solidFill>
                  <a:srgbClr val="1F2937"/>
                </a:solidFill>
                <a:latin typeface="Calibri"/>
              </a:rPr>
              <a:t>precedents: 77% of those shown relevant; 73% of packages get one, 19% none</a:t>
            </a:r>
          </a:p>
          <a:p>
            <a:pPr algn="l">
              <a:spcAft>
                <a:spcPts val="300"/>
              </a:spcAft>
            </a:pPr>
            <a:r>
              <a:rPr sz="1250" b="1">
                <a:solidFill>
                  <a:srgbClr val="0F766E"/>
                </a:solidFill>
                <a:latin typeface="Calibri"/>
              </a:rPr>
              <a:t>•  </a:t>
            </a:r>
            <a:r>
              <a:rPr sz="1250" b="0">
                <a:solidFill>
                  <a:srgbClr val="1F2937"/>
                </a:solidFill>
                <a:latin typeface="Calibri"/>
              </a:rPr>
              <a:t>30 full briefs: actual inside the cited range 20/30; unsupported claim 5/30</a:t>
            </a:r>
          </a:p>
          <a:p>
            <a:pPr algn="l">
              <a:spcAft>
                <a:spcPts val="300"/>
              </a:spcAft>
            </a:pPr>
            <a:r>
              <a:rPr sz="1250" b="1">
                <a:solidFill>
                  <a:srgbClr val="0F766E"/>
                </a:solidFill>
                <a:latin typeface="Calibri"/>
              </a:rPr>
              <a:t>•  </a:t>
            </a:r>
            <a:r>
              <a:rPr sz="1250" b="0">
                <a:solidFill>
                  <a:srgbClr val="1F2937"/>
                </a:solidFill>
                <a:latin typeface="Calibri"/>
              </a:rPr>
              <a:t>labels: code checks, then 3 LLM judges, then an AI adjudicator with evidence</a:t>
            </a:r>
          </a:p>
        </p:txBody>
      </p:sp>
      <p:sp>
        <p:nvSpPr>
          <p:cNvPr id="8" name="TextBox 7"/>
          <p:cNvSpPr txBox="1"/>
          <p:nvPr/>
        </p:nvSpPr>
        <p:spPr>
          <a:xfrm>
            <a:off x="457200" y="5779008"/>
            <a:ext cx="6766560" cy="548640"/>
          </a:xfrm>
          <a:prstGeom prst="rect">
            <a:avLst/>
          </a:prstGeom>
          <a:noFill/>
        </p:spPr>
        <p:txBody>
          <a:bodyPr wrap="square" anchor="t" lIns="36576" rIns="36576" tIns="18288" bIns="18288">
            <a:spAutoFit/>
          </a:bodyPr>
          <a:lstStyle/>
          <a:p>
            <a:pPr algn="l">
              <a:spcAft>
                <a:spcPts val="400"/>
              </a:spcAft>
            </a:pPr>
            <a:r>
              <a:rPr sz="1250" b="1">
                <a:solidFill>
                  <a:srgbClr val="1F3A5F"/>
                </a:solidFill>
                <a:latin typeface="Calibri"/>
              </a:rPr>
              <a:t>Guardrails:  </a:t>
            </a:r>
            <a:r>
              <a:rPr sz="1250" b="0">
                <a:solidFill>
                  <a:srgbClr val="1F2937"/>
                </a:solidFill>
                <a:latin typeface="Calibri"/>
              </a:rPr>
              <a:t>input guard 3/3; code drops ids no tool returned; 19 of 20 briefs judged grounded</a:t>
            </a:r>
          </a:p>
        </p:txBody>
      </p:sp>
      <p:sp>
        <p:nvSpPr>
          <p:cNvPr id="9" name="Rounded Rectangle 8"/>
          <p:cNvSpPr/>
          <p:nvPr/>
        </p:nvSpPr>
        <p:spPr>
          <a:xfrm>
            <a:off x="7543800" y="1371600"/>
            <a:ext cx="4187952" cy="1325880"/>
          </a:xfrm>
          <a:prstGeom prst="roundRect">
            <a:avLst>
              <a:gd name="adj" fmla="val 6000"/>
            </a:avLst>
          </a:prstGeom>
          <a:solidFill>
            <a:srgbClr val="E6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444752"/>
            <a:ext cx="3913632" cy="502920"/>
          </a:xfrm>
          <a:prstGeom prst="rect">
            <a:avLst/>
          </a:prstGeom>
          <a:noFill/>
        </p:spPr>
        <p:txBody>
          <a:bodyPr wrap="square" anchor="t" lIns="36576" rIns="36576" tIns="18288" bIns="18288">
            <a:spAutoFit/>
          </a:bodyPr>
          <a:lstStyle/>
          <a:p>
            <a:pPr algn="l">
              <a:spcAft>
                <a:spcPts val="400"/>
              </a:spcAft>
            </a:pPr>
            <a:r>
              <a:rPr sz="2600" b="1">
                <a:solidFill>
                  <a:srgbClr val="0F766E"/>
                </a:solidFill>
                <a:latin typeface="Calibri"/>
              </a:rPr>
              <a:t>35 of 68</a:t>
            </a:r>
          </a:p>
        </p:txBody>
      </p:sp>
      <p:sp>
        <p:nvSpPr>
          <p:cNvPr id="11" name="TextBox 10"/>
          <p:cNvSpPr txBox="1"/>
          <p:nvPr/>
        </p:nvSpPr>
        <p:spPr>
          <a:xfrm>
            <a:off x="7708392" y="1920240"/>
            <a:ext cx="3913632" cy="731519"/>
          </a:xfrm>
          <a:prstGeom prst="rect">
            <a:avLst/>
          </a:prstGeom>
          <a:noFill/>
        </p:spPr>
        <p:txBody>
          <a:bodyPr wrap="square" anchor="t" lIns="36576" rIns="36576" tIns="18288" bIns="18288">
            <a:spAutoFit/>
          </a:bodyPr>
          <a:lstStyle/>
          <a:p>
            <a:pPr algn="l">
              <a:spcAft>
                <a:spcPts val="400"/>
              </a:spcAft>
            </a:pPr>
            <a:r>
              <a:rPr sz="1200" b="0">
                <a:solidFill>
                  <a:srgbClr val="1F2937"/>
                </a:solidFill>
                <a:latin typeface="Calibri"/>
              </a:rPr>
              <a:t>projects IEG rated unsatisfactory still had a satisfactory last ISR (400 closed projects)</a:t>
            </a:r>
          </a:p>
        </p:txBody>
      </p:sp>
      <p:sp>
        <p:nvSpPr>
          <p:cNvPr id="12" name="TextBox 11"/>
          <p:cNvSpPr txBox="1"/>
          <p:nvPr/>
        </p:nvSpPr>
        <p:spPr>
          <a:xfrm>
            <a:off x="7543800" y="2834640"/>
            <a:ext cx="4187952" cy="310896"/>
          </a:xfrm>
          <a:prstGeom prst="rect">
            <a:avLst/>
          </a:prstGeom>
          <a:noFill/>
        </p:spPr>
        <p:txBody>
          <a:bodyPr wrap="square" anchor="t" lIns="36576" rIns="36576" tIns="18288" bIns="18288">
            <a:spAutoFit/>
          </a:bodyPr>
          <a:lstStyle/>
          <a:p>
            <a:pPr algn="l">
              <a:spcAft>
                <a:spcPts val="400"/>
              </a:spcAft>
            </a:pPr>
            <a:r>
              <a:rPr sz="1500" b="1">
                <a:solidFill>
                  <a:srgbClr val="1F3A5F"/>
                </a:solidFill>
                <a:latin typeface="Calibri"/>
              </a:rPr>
              <a:t>Conflict policy</a:t>
            </a:r>
          </a:p>
        </p:txBody>
      </p:sp>
      <p:sp>
        <p:nvSpPr>
          <p:cNvPr id="13" name="TextBox 12"/>
          <p:cNvSpPr txBox="1"/>
          <p:nvPr/>
        </p:nvSpPr>
        <p:spPr>
          <a:xfrm>
            <a:off x="7543800" y="3163824"/>
            <a:ext cx="4187952" cy="1097280"/>
          </a:xfrm>
          <a:prstGeom prst="rect">
            <a:avLst/>
          </a:prstGeom>
          <a:noFill/>
        </p:spPr>
        <p:txBody>
          <a:bodyPr wrap="square" anchor="t" lIns="36576" rIns="36576" tIns="18288" bIns="18288">
            <a:spAutoFit/>
          </a:bodyPr>
          <a:lstStyle/>
          <a:p>
            <a:pPr algn="l">
              <a:spcAft>
                <a:spcPts val="300"/>
              </a:spcAft>
            </a:pPr>
            <a:r>
              <a:rPr sz="1300" b="1">
                <a:solidFill>
                  <a:srgbClr val="0F766E"/>
                </a:solidFill>
                <a:latin typeface="Calibri"/>
              </a:rPr>
              <a:t>•  </a:t>
            </a:r>
            <a:r>
              <a:rPr sz="1300" b="0">
                <a:solidFill>
                  <a:srgbClr val="1F2937"/>
                </a:solidFill>
                <a:latin typeface="Calibri"/>
              </a:rPr>
              <a:t>outcome: IEG &gt; ICR &gt; last ISR &gt; earlier ISR</a:t>
            </a:r>
          </a:p>
          <a:p>
            <a:pPr algn="l">
              <a:spcAft>
                <a:spcPts val="300"/>
              </a:spcAft>
            </a:pPr>
            <a:r>
              <a:rPr sz="1300" b="1">
                <a:solidFill>
                  <a:srgbClr val="0F766E"/>
                </a:solidFill>
                <a:latin typeface="Calibri"/>
              </a:rPr>
              <a:t>•  </a:t>
            </a:r>
            <a:r>
              <a:rPr sz="1300" b="0">
                <a:solidFill>
                  <a:srgbClr val="1F2937"/>
                </a:solidFill>
                <a:latin typeface="Calibri"/>
              </a:rPr>
              <a:t>current status: newest ISR, marked stale when old</a:t>
            </a:r>
          </a:p>
          <a:p>
            <a:pPr algn="l">
              <a:spcAft>
                <a:spcPts val="300"/>
              </a:spcAft>
            </a:pPr>
            <a:r>
              <a:rPr sz="1300" b="1">
                <a:solidFill>
                  <a:srgbClr val="0F766E"/>
                </a:solidFill>
                <a:latin typeface="Calibri"/>
              </a:rPr>
              <a:t>•  </a:t>
            </a:r>
            <a:r>
              <a:rPr sz="1300" b="0">
                <a:solidFill>
                  <a:srgbClr val="1F2937"/>
                </a:solidFill>
                <a:latin typeface="Calibri"/>
              </a:rPr>
              <a:t>both sides shown with a flag and confidence</a:t>
            </a:r>
          </a:p>
        </p:txBody>
      </p:sp>
      <p:sp>
        <p:nvSpPr>
          <p:cNvPr id="14" name="TextBox 13"/>
          <p:cNvSpPr txBox="1"/>
          <p:nvPr/>
        </p:nvSpPr>
        <p:spPr>
          <a:xfrm>
            <a:off x="7543800" y="4434840"/>
            <a:ext cx="4187952" cy="310896"/>
          </a:xfrm>
          <a:prstGeom prst="rect">
            <a:avLst/>
          </a:prstGeom>
          <a:noFill/>
        </p:spPr>
        <p:txBody>
          <a:bodyPr wrap="square" anchor="t" lIns="36576" rIns="36576" tIns="18288" bIns="18288">
            <a:spAutoFit/>
          </a:bodyPr>
          <a:lstStyle/>
          <a:p>
            <a:pPr algn="l">
              <a:spcAft>
                <a:spcPts val="400"/>
              </a:spcAft>
            </a:pPr>
            <a:r>
              <a:rPr sz="1500" b="1">
                <a:solidFill>
                  <a:srgbClr val="1F3A5F"/>
                </a:solidFill>
                <a:latin typeface="Calibri"/>
              </a:rPr>
              <a:t>Data gaps, handled openly</a:t>
            </a:r>
          </a:p>
        </p:txBody>
      </p:sp>
      <p:sp>
        <p:nvSpPr>
          <p:cNvPr id="15" name="TextBox 14"/>
          <p:cNvSpPr txBox="1"/>
          <p:nvPr/>
        </p:nvSpPr>
        <p:spPr>
          <a:xfrm>
            <a:off x="7543800" y="4764024"/>
            <a:ext cx="4187952" cy="1097280"/>
          </a:xfrm>
          <a:prstGeom prst="rect">
            <a:avLst/>
          </a:prstGeom>
          <a:noFill/>
        </p:spPr>
        <p:txBody>
          <a:bodyPr wrap="square" anchor="t" lIns="36576" rIns="36576" tIns="18288" bIns="18288">
            <a:spAutoFit/>
          </a:bodyPr>
          <a:lstStyle/>
          <a:p>
            <a:pPr algn="l">
              <a:spcAft>
                <a:spcPts val="300"/>
              </a:spcAft>
            </a:pPr>
            <a:r>
              <a:rPr sz="1300" b="1">
                <a:solidFill>
                  <a:srgbClr val="0F766E"/>
                </a:solidFill>
                <a:latin typeface="Calibri"/>
              </a:rPr>
              <a:t>•  </a:t>
            </a:r>
            <a:r>
              <a:rPr sz="1300" b="0">
                <a:solidFill>
                  <a:srgbClr val="1F2937"/>
                </a:solidFill>
                <a:latin typeface="Calibri"/>
              </a:rPr>
              <a:t>amendments and milestones not public (STEP)</a:t>
            </a:r>
          </a:p>
          <a:p>
            <a:pPr algn="l">
              <a:spcAft>
                <a:spcPts val="300"/>
              </a:spcAft>
            </a:pPr>
            <a:r>
              <a:rPr sz="1300" b="1">
                <a:solidFill>
                  <a:srgbClr val="0F766E"/>
                </a:solidFill>
                <a:latin typeface="Calibri"/>
              </a:rPr>
              <a:t>•  </a:t>
            </a:r>
            <a:r>
              <a:rPr sz="1300" b="0">
                <a:solidFill>
                  <a:srgbClr val="1F2937"/>
                </a:solidFill>
                <a:latin typeface="Calibri"/>
              </a:rPr>
              <a:t>plain chunking lost 26.8% of table rows; fixed</a:t>
            </a:r>
          </a:p>
          <a:p>
            <a:pPr algn="l">
              <a:spcAft>
                <a:spcPts val="300"/>
              </a:spcAft>
            </a:pPr>
            <a:r>
              <a:rPr sz="1300" b="1">
                <a:solidFill>
                  <a:srgbClr val="0F766E"/>
                </a:solidFill>
                <a:latin typeface="Calibri"/>
              </a:rPr>
              <a:t>•  </a:t>
            </a:r>
            <a:r>
              <a:rPr sz="1300" b="0">
                <a:solidFill>
                  <a:srgbClr val="1F2937"/>
                </a:solidFill>
                <a:latin typeface="Calibri"/>
              </a:rPr>
              <a:t>awards from FY2020 only; 300 of ~8,100 ICRs</a:t>
            </a:r>
          </a:p>
        </p:txBody>
      </p:sp>
      <p:sp>
        <p:nvSpPr>
          <p:cNvPr id="16" name="TextBox 15"/>
          <p:cNvSpPr txBox="1"/>
          <p:nvPr/>
        </p:nvSpPr>
        <p:spPr>
          <a:xfrm>
            <a:off x="457200" y="6473952"/>
            <a:ext cx="8229600" cy="274320"/>
          </a:xfrm>
          <a:prstGeom prst="rect">
            <a:avLst/>
          </a:prstGeom>
          <a:noFill/>
        </p:spPr>
        <p:txBody>
          <a:bodyPr wrap="square" anchor="t" lIns="36576" rIns="36576" tIns="18288" bIns="18288">
            <a:spAutoFit/>
          </a:bodyPr>
          <a:lstStyle/>
          <a:p>
            <a:pPr algn="l">
              <a:spcAft>
                <a:spcPts val="400"/>
              </a:spcAft>
            </a:pPr>
            <a:r>
              <a:rPr sz="1000" b="0">
                <a:solidFill>
                  <a:srgbClr val="5B6472"/>
                </a:solidFill>
                <a:latin typeface="Calibri"/>
              </a:rPr>
              <a:t>Procurement Intelligence Platform  |  prototype on World Bank open data, Azure Databricks</a:t>
            </a:r>
          </a:p>
        </p:txBody>
      </p:sp>
      <p:sp>
        <p:nvSpPr>
          <p:cNvPr id="17" name="TextBox 16"/>
          <p:cNvSpPr txBox="1"/>
          <p:nvPr/>
        </p:nvSpPr>
        <p:spPr>
          <a:xfrm>
            <a:off x="10972800" y="6473952"/>
            <a:ext cx="758952" cy="274320"/>
          </a:xfrm>
          <a:prstGeom prst="rect">
            <a:avLst/>
          </a:prstGeom>
          <a:noFill/>
        </p:spPr>
        <p:txBody>
          <a:bodyPr wrap="square" anchor="t" lIns="36576" rIns="36576" tIns="18288" bIns="18288">
            <a:spAutoFit/>
          </a:bodyPr>
          <a:lstStyle/>
          <a:p>
            <a:pPr algn="r">
              <a:spcAft>
                <a:spcPts val="400"/>
              </a:spcAft>
            </a:pPr>
            <a:r>
              <a:rPr sz="1000" b="0">
                <a:solidFill>
                  <a:srgbClr val="5B6472"/>
                </a:solidFill>
                <a:latin typeface="Calibri"/>
              </a:rPr>
              <a:t>4 /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92608"/>
            <a:ext cx="11247120" cy="640080"/>
          </a:xfrm>
          <a:prstGeom prst="rect">
            <a:avLst/>
          </a:prstGeom>
          <a:noFill/>
        </p:spPr>
        <p:txBody>
          <a:bodyPr wrap="square" anchor="t" lIns="36576" rIns="36576" tIns="18288" bIns="18288">
            <a:spAutoFit/>
          </a:bodyPr>
          <a:lstStyle/>
          <a:p>
            <a:pPr algn="l">
              <a:spcAft>
                <a:spcPts val="400"/>
              </a:spcAft>
            </a:pPr>
            <a:r>
              <a:rPr sz="3000" b="1">
                <a:solidFill>
                  <a:srgbClr val="1F3A5F"/>
                </a:solidFill>
                <a:latin typeface="Calibri"/>
              </a:rPr>
              <a:t>Rollout: a closed learning loop and a gated pilot</a:t>
            </a:r>
          </a:p>
        </p:txBody>
      </p:sp>
      <p:sp>
        <p:nvSpPr>
          <p:cNvPr id="3" name="Subtitle"/>
          <p:cNvSpPr txBox="1"/>
          <p:nvPr/>
        </p:nvSpPr>
        <p:spPr>
          <a:xfrm>
            <a:off x="457200" y="896112"/>
            <a:ext cx="11247120" cy="365760"/>
          </a:xfrm>
          <a:prstGeom prst="rect">
            <a:avLst/>
          </a:prstGeom>
          <a:noFill/>
        </p:spPr>
        <p:txBody>
          <a:bodyPr wrap="square" anchor="t" lIns="36576" rIns="36576" tIns="18288" bIns="18288">
            <a:spAutoFit/>
          </a:bodyPr>
          <a:lstStyle/>
          <a:p>
            <a:pPr algn="l">
              <a:spcAft>
                <a:spcPts val="400"/>
              </a:spcAft>
            </a:pPr>
            <a:r>
              <a:rPr sz="1500" b="0">
                <a:solidFill>
                  <a:srgbClr val="5B6472"/>
                </a:solidFill>
                <a:latin typeface="Calibri"/>
              </a:rPr>
              <a:t>Incremental updates proven on real data; each pilot phase has a go/no-go threshold</a:t>
            </a:r>
          </a:p>
        </p:txBody>
      </p:sp>
      <p:pic>
        <p:nvPicPr>
          <p:cNvPr id="4" name="Picture 3" descr="learning_loop_slide.png"/>
          <p:cNvPicPr>
            <a:picLocks noChangeAspect="1"/>
          </p:cNvPicPr>
          <p:nvPr/>
        </p:nvPicPr>
        <p:blipFill>
          <a:blip r:embed="rId2"/>
          <a:stretch>
            <a:fillRect/>
          </a:stretch>
        </p:blipFill>
        <p:spPr>
          <a:xfrm>
            <a:off x="457200" y="1371600"/>
            <a:ext cx="6035040" cy="1954352"/>
          </a:xfrm>
          <a:prstGeom prst="rect">
            <a:avLst/>
          </a:prstGeom>
        </p:spPr>
      </p:pic>
      <p:sp>
        <p:nvSpPr>
          <p:cNvPr id="5" name="TextBox 4"/>
          <p:cNvSpPr txBox="1"/>
          <p:nvPr/>
        </p:nvSpPr>
        <p:spPr>
          <a:xfrm>
            <a:off x="457200" y="3474720"/>
            <a:ext cx="6035040" cy="310896"/>
          </a:xfrm>
          <a:prstGeom prst="rect">
            <a:avLst/>
          </a:prstGeom>
          <a:noFill/>
        </p:spPr>
        <p:txBody>
          <a:bodyPr wrap="square" anchor="t" lIns="36576" rIns="36576" tIns="18288" bIns="18288">
            <a:spAutoFit/>
          </a:bodyPr>
          <a:lstStyle/>
          <a:p>
            <a:pPr algn="l">
              <a:spcAft>
                <a:spcPts val="400"/>
              </a:spcAft>
            </a:pPr>
            <a:r>
              <a:rPr sz="1500" b="1">
                <a:solidFill>
                  <a:srgbClr val="1F3A5F"/>
                </a:solidFill>
                <a:latin typeface="Calibri"/>
              </a:rPr>
              <a:t>Proven on a replay of real notices</a:t>
            </a:r>
          </a:p>
        </p:txBody>
      </p:sp>
      <p:sp>
        <p:nvSpPr>
          <p:cNvPr id="6" name="TextBox 5"/>
          <p:cNvSpPr txBox="1"/>
          <p:nvPr/>
        </p:nvSpPr>
        <p:spPr>
          <a:xfrm>
            <a:off x="457200" y="3803904"/>
            <a:ext cx="6035040" cy="822959"/>
          </a:xfrm>
          <a:prstGeom prst="rect">
            <a:avLst/>
          </a:prstGeom>
          <a:noFill/>
        </p:spPr>
        <p:txBody>
          <a:bodyPr wrap="square" anchor="t" lIns="36576" rIns="36576" tIns="18288" bIns="18288">
            <a:spAutoFit/>
          </a:bodyPr>
          <a:lstStyle/>
          <a:p>
            <a:pPr algn="l">
              <a:spcAft>
                <a:spcPts val="300"/>
              </a:spcAft>
            </a:pPr>
            <a:r>
              <a:rPr sz="1300" b="1">
                <a:solidFill>
                  <a:srgbClr val="0F766E"/>
                </a:solidFill>
                <a:latin typeface="Calibri"/>
              </a:rPr>
              <a:t>•  </a:t>
            </a:r>
            <a:r>
              <a:rPr sz="1300" b="0">
                <a:solidFill>
                  <a:srgbClr val="1F2937"/>
                </a:solidFill>
                <a:latin typeface="Calibri"/>
              </a:rPr>
              <a:t>934 inserts + 100 corrections -&gt; 3,290 graph inserts, 50 deletes</a:t>
            </a:r>
          </a:p>
          <a:p>
            <a:pPr algn="l">
              <a:spcAft>
                <a:spcPts val="300"/>
              </a:spcAft>
            </a:pPr>
            <a:r>
              <a:rPr sz="1300" b="1">
                <a:solidFill>
                  <a:srgbClr val="0F766E"/>
                </a:solidFill>
                <a:latin typeface="Calibri"/>
              </a:rPr>
              <a:t>•  </a:t>
            </a:r>
            <a:r>
              <a:rPr sz="1300" b="0">
                <a:solidFill>
                  <a:srgbClr val="1F2937"/>
                </a:solidFill>
                <a:latin typeface="Calibri"/>
              </a:rPr>
              <a:t>incremental result = full rebuild = production: 0 differences</a:t>
            </a:r>
          </a:p>
        </p:txBody>
      </p:sp>
      <p:sp>
        <p:nvSpPr>
          <p:cNvPr id="7" name="TextBox 6"/>
          <p:cNvSpPr txBox="1"/>
          <p:nvPr/>
        </p:nvSpPr>
        <p:spPr>
          <a:xfrm>
            <a:off x="457200" y="4709160"/>
            <a:ext cx="6035040" cy="310896"/>
          </a:xfrm>
          <a:prstGeom prst="rect">
            <a:avLst/>
          </a:prstGeom>
          <a:noFill/>
        </p:spPr>
        <p:txBody>
          <a:bodyPr wrap="square" anchor="t" lIns="36576" rIns="36576" tIns="18288" bIns="18288">
            <a:spAutoFit/>
          </a:bodyPr>
          <a:lstStyle/>
          <a:p>
            <a:pPr algn="l">
              <a:spcAft>
                <a:spcPts val="400"/>
              </a:spcAft>
            </a:pPr>
            <a:r>
              <a:rPr sz="1500" b="1">
                <a:solidFill>
                  <a:srgbClr val="1F3A5F"/>
                </a:solidFill>
                <a:latin typeface="Calibri"/>
              </a:rPr>
              <a:t>KPIs, stored in pilot_kpis with baseline and target</a:t>
            </a:r>
          </a:p>
        </p:txBody>
      </p:sp>
      <p:sp>
        <p:nvSpPr>
          <p:cNvPr id="8" name="TextBox 7"/>
          <p:cNvSpPr txBox="1"/>
          <p:nvPr/>
        </p:nvSpPr>
        <p:spPr>
          <a:xfrm>
            <a:off x="457200" y="5038344"/>
            <a:ext cx="6035040" cy="1097280"/>
          </a:xfrm>
          <a:prstGeom prst="rect">
            <a:avLst/>
          </a:prstGeom>
          <a:noFill/>
        </p:spPr>
        <p:txBody>
          <a:bodyPr wrap="square" anchor="t" lIns="36576" rIns="36576" tIns="18288" bIns="18288">
            <a:spAutoFit/>
          </a:bodyPr>
          <a:lstStyle/>
          <a:p>
            <a:pPr algn="l">
              <a:spcAft>
                <a:spcPts val="300"/>
              </a:spcAft>
            </a:pPr>
            <a:r>
              <a:rPr sz="1300" b="1">
                <a:solidFill>
                  <a:srgbClr val="0F766E"/>
                </a:solidFill>
                <a:latin typeface="Calibri"/>
              </a:rPr>
              <a:t>•  </a:t>
            </a:r>
            <a:r>
              <a:rPr sz="1300" b="0">
                <a:solidFill>
                  <a:srgbClr val="1F2937"/>
                </a:solidFill>
                <a:latin typeface="Calibri"/>
              </a:rPr>
              <a:t>planning cycle time: 160 days today; -10% in pilot hubs vs similar hubs</a:t>
            </a:r>
          </a:p>
          <a:p>
            <a:pPr algn="l">
              <a:spcAft>
                <a:spcPts val="300"/>
              </a:spcAft>
            </a:pPr>
            <a:r>
              <a:rPr sz="1300" b="1">
                <a:solidFill>
                  <a:srgbClr val="0F766E"/>
                </a:solidFill>
                <a:latin typeface="Calibri"/>
              </a:rPr>
              <a:t>•  </a:t>
            </a:r>
            <a:r>
              <a:rPr sz="1300" b="0">
                <a:solidFill>
                  <a:srgbClr val="1F2937"/>
                </a:solidFill>
                <a:latin typeface="Calibri"/>
              </a:rPr>
              <a:t>precision@5 &gt;= 0.70; valid citations &gt;= 0.95; freshness &gt;= 0.95</a:t>
            </a:r>
          </a:p>
          <a:p>
            <a:pPr algn="l">
              <a:spcAft>
                <a:spcPts val="300"/>
              </a:spcAft>
            </a:pPr>
            <a:r>
              <a:rPr sz="1300" b="1">
                <a:solidFill>
                  <a:srgbClr val="0F766E"/>
                </a:solidFill>
                <a:latin typeface="Calibri"/>
              </a:rPr>
              <a:t>•  </a:t>
            </a:r>
            <a:r>
              <a:rPr sz="1300" b="0">
                <a:solidFill>
                  <a:srgbClr val="1F2937"/>
                </a:solidFill>
                <a:latin typeface="Calibri"/>
              </a:rPr>
              <a:t>adoption &gt;= 50% weekly; positive feedback &gt;= 70%</a:t>
            </a:r>
          </a:p>
        </p:txBody>
      </p:sp>
      <p:sp>
        <p:nvSpPr>
          <p:cNvPr id="9" name="Rounded Rectangle 8"/>
          <p:cNvSpPr/>
          <p:nvPr/>
        </p:nvSpPr>
        <p:spPr>
          <a:xfrm>
            <a:off x="6812280" y="1371600"/>
            <a:ext cx="4919472" cy="822960"/>
          </a:xfrm>
          <a:prstGeom prst="roundRect">
            <a:avLst>
              <a:gd name="adj" fmla="val 6000"/>
            </a:avLst>
          </a:prstGeom>
          <a:solidFill>
            <a:srgbClr val="E6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67728" y="1426464"/>
            <a:ext cx="4663440" cy="320040"/>
          </a:xfrm>
          <a:prstGeom prst="rect">
            <a:avLst/>
          </a:prstGeom>
          <a:noFill/>
        </p:spPr>
        <p:txBody>
          <a:bodyPr wrap="square" anchor="t" lIns="36576" rIns="36576" tIns="18288" bIns="18288">
            <a:spAutoFit/>
          </a:bodyPr>
          <a:lstStyle/>
          <a:p>
            <a:pPr algn="l">
              <a:spcAft>
                <a:spcPts val="400"/>
              </a:spcAft>
            </a:pPr>
            <a:r>
              <a:rPr sz="1450" b="1">
                <a:solidFill>
                  <a:srgbClr val="0F766E"/>
                </a:solidFill>
                <a:latin typeface="Calibri"/>
              </a:rPr>
              <a:t>0  Shadow, 4-6 weeks</a:t>
            </a:r>
          </a:p>
        </p:txBody>
      </p:sp>
      <p:sp>
        <p:nvSpPr>
          <p:cNvPr id="11" name="TextBox 10"/>
          <p:cNvSpPr txBox="1"/>
          <p:nvPr/>
        </p:nvSpPr>
        <p:spPr>
          <a:xfrm>
            <a:off x="6967728" y="1755648"/>
            <a:ext cx="4663440" cy="411480"/>
          </a:xfrm>
          <a:prstGeom prst="rect">
            <a:avLst/>
          </a:prstGeom>
          <a:noFill/>
        </p:spPr>
        <p:txBody>
          <a:bodyPr wrap="square" anchor="t" lIns="36576" rIns="36576" tIns="18288" bIns="18288">
            <a:spAutoFit/>
          </a:bodyPr>
          <a:lstStyle/>
          <a:p>
            <a:pPr algn="l">
              <a:spcAft>
                <a:spcPts val="400"/>
              </a:spcAft>
            </a:pPr>
            <a:r>
              <a:rPr sz="1300" b="0">
                <a:solidFill>
                  <a:srgbClr val="1F2937"/>
                </a:solidFill>
                <a:latin typeface="Calibri"/>
              </a:rPr>
              <a:t>answers logged, not shown; trust KPIs must pass</a:t>
            </a:r>
          </a:p>
        </p:txBody>
      </p:sp>
      <p:sp>
        <p:nvSpPr>
          <p:cNvPr id="12" name="Rounded Rectangle 11"/>
          <p:cNvSpPr/>
          <p:nvPr/>
        </p:nvSpPr>
        <p:spPr>
          <a:xfrm>
            <a:off x="6812280" y="2304288"/>
            <a:ext cx="4919472" cy="822960"/>
          </a:xfrm>
          <a:prstGeom prst="roundRect">
            <a:avLst>
              <a:gd name="adj" fmla="val 6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67728" y="2359152"/>
            <a:ext cx="4663440" cy="320040"/>
          </a:xfrm>
          <a:prstGeom prst="rect">
            <a:avLst/>
          </a:prstGeom>
          <a:noFill/>
        </p:spPr>
        <p:txBody>
          <a:bodyPr wrap="square" anchor="t" lIns="36576" rIns="36576" tIns="18288" bIns="18288">
            <a:spAutoFit/>
          </a:bodyPr>
          <a:lstStyle/>
          <a:p>
            <a:pPr algn="l">
              <a:spcAft>
                <a:spcPts val="400"/>
              </a:spcAft>
            </a:pPr>
            <a:r>
              <a:rPr sz="1450" b="1">
                <a:solidFill>
                  <a:srgbClr val="1F3A5F"/>
                </a:solidFill>
                <a:latin typeface="Calibri"/>
              </a:rPr>
              <a:t>1  Assisted pilot, 3 months</a:t>
            </a:r>
          </a:p>
        </p:txBody>
      </p:sp>
      <p:sp>
        <p:nvSpPr>
          <p:cNvPr id="14" name="TextBox 13"/>
          <p:cNvSpPr txBox="1"/>
          <p:nvPr/>
        </p:nvSpPr>
        <p:spPr>
          <a:xfrm>
            <a:off x="6967728" y="2688336"/>
            <a:ext cx="4663440" cy="411480"/>
          </a:xfrm>
          <a:prstGeom prst="rect">
            <a:avLst/>
          </a:prstGeom>
          <a:noFill/>
        </p:spPr>
        <p:txBody>
          <a:bodyPr wrap="square" anchor="t" lIns="36576" rIns="36576" tIns="18288" bIns="18288">
            <a:spAutoFit/>
          </a:bodyPr>
          <a:lstStyle/>
          <a:p>
            <a:pPr algn="l">
              <a:spcAft>
                <a:spcPts val="400"/>
              </a:spcAft>
            </a:pPr>
            <a:r>
              <a:rPr sz="1300" b="0">
                <a:solidFill>
                  <a:srgbClr val="1F2937"/>
                </a:solidFill>
                <a:latin typeface="Calibri"/>
              </a:rPr>
              <a:t>2-3 regional hubs, 15-30 specialists; staff decide</a:t>
            </a:r>
          </a:p>
        </p:txBody>
      </p:sp>
      <p:sp>
        <p:nvSpPr>
          <p:cNvPr id="15" name="Rounded Rectangle 14"/>
          <p:cNvSpPr/>
          <p:nvPr/>
        </p:nvSpPr>
        <p:spPr>
          <a:xfrm>
            <a:off x="6812280" y="3236976"/>
            <a:ext cx="4919472" cy="822960"/>
          </a:xfrm>
          <a:prstGeom prst="roundRect">
            <a:avLst>
              <a:gd name="adj" fmla="val 6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67728" y="3291840"/>
            <a:ext cx="4663440" cy="320040"/>
          </a:xfrm>
          <a:prstGeom prst="rect">
            <a:avLst/>
          </a:prstGeom>
          <a:noFill/>
        </p:spPr>
        <p:txBody>
          <a:bodyPr wrap="square" anchor="t" lIns="36576" rIns="36576" tIns="18288" bIns="18288">
            <a:spAutoFit/>
          </a:bodyPr>
          <a:lstStyle/>
          <a:p>
            <a:pPr algn="l">
              <a:spcAft>
                <a:spcPts val="400"/>
              </a:spcAft>
            </a:pPr>
            <a:r>
              <a:rPr sz="1450" b="1">
                <a:solidFill>
                  <a:srgbClr val="1F3A5F"/>
                </a:solidFill>
                <a:latin typeface="Calibri"/>
              </a:rPr>
              <a:t>2  Scale-out</a:t>
            </a:r>
          </a:p>
        </p:txBody>
      </p:sp>
      <p:sp>
        <p:nvSpPr>
          <p:cNvPr id="17" name="TextBox 16"/>
          <p:cNvSpPr txBox="1"/>
          <p:nvPr/>
        </p:nvSpPr>
        <p:spPr>
          <a:xfrm>
            <a:off x="6967728" y="3621024"/>
            <a:ext cx="4663440" cy="411480"/>
          </a:xfrm>
          <a:prstGeom prst="rect">
            <a:avLst/>
          </a:prstGeom>
          <a:noFill/>
        </p:spPr>
        <p:txBody>
          <a:bodyPr wrap="square" anchor="t" lIns="36576" rIns="36576" tIns="18288" bIns="18288">
            <a:spAutoFit/>
          </a:bodyPr>
          <a:lstStyle/>
          <a:p>
            <a:pPr algn="l">
              <a:spcAft>
                <a:spcPts val="400"/>
              </a:spcAft>
            </a:pPr>
            <a:r>
              <a:rPr sz="1300" b="0">
                <a:solidFill>
                  <a:srgbClr val="1F2937"/>
                </a:solidFill>
                <a:latin typeface="Calibri"/>
              </a:rPr>
              <a:t>all regions, inside STEP planning; rollback = move @champion</a:t>
            </a:r>
          </a:p>
        </p:txBody>
      </p:sp>
      <p:sp>
        <p:nvSpPr>
          <p:cNvPr id="18" name="TextBox 17"/>
          <p:cNvSpPr txBox="1"/>
          <p:nvPr/>
        </p:nvSpPr>
        <p:spPr>
          <a:xfrm>
            <a:off x="6812280" y="4251960"/>
            <a:ext cx="4919472" cy="310896"/>
          </a:xfrm>
          <a:prstGeom prst="rect">
            <a:avLst/>
          </a:prstGeom>
          <a:noFill/>
        </p:spPr>
        <p:txBody>
          <a:bodyPr wrap="square" anchor="t" lIns="36576" rIns="36576" tIns="18288" bIns="18288">
            <a:spAutoFit/>
          </a:bodyPr>
          <a:lstStyle/>
          <a:p>
            <a:pPr algn="l">
              <a:spcAft>
                <a:spcPts val="400"/>
              </a:spcAft>
            </a:pPr>
            <a:r>
              <a:rPr sz="1500" b="1">
                <a:solidFill>
                  <a:srgbClr val="1F3A5F"/>
                </a:solidFill>
                <a:latin typeface="Calibri"/>
              </a:rPr>
              <a:t>First 90 days</a:t>
            </a:r>
          </a:p>
        </p:txBody>
      </p:sp>
      <p:sp>
        <p:nvSpPr>
          <p:cNvPr id="19" name="TextBox 18"/>
          <p:cNvSpPr txBox="1"/>
          <p:nvPr/>
        </p:nvSpPr>
        <p:spPr>
          <a:xfrm>
            <a:off x="6812280" y="4581144"/>
            <a:ext cx="4919472" cy="1097280"/>
          </a:xfrm>
          <a:prstGeom prst="rect">
            <a:avLst/>
          </a:prstGeom>
          <a:noFill/>
        </p:spPr>
        <p:txBody>
          <a:bodyPr wrap="square" anchor="t" lIns="36576" rIns="36576" tIns="18288" bIns="18288">
            <a:spAutoFit/>
          </a:bodyPr>
          <a:lstStyle/>
          <a:p>
            <a:pPr algn="l">
              <a:spcAft>
                <a:spcPts val="300"/>
              </a:spcAft>
            </a:pPr>
            <a:r>
              <a:rPr sz="1300" b="1">
                <a:solidFill>
                  <a:srgbClr val="0F766E"/>
                </a:solidFill>
                <a:latin typeface="Calibri"/>
              </a:rPr>
              <a:t>•  </a:t>
            </a:r>
            <a:r>
              <a:rPr sz="1300" b="0">
                <a:solidFill>
                  <a:srgbClr val="1F2937"/>
                </a:solidFill>
                <a:latin typeface="Calibri"/>
              </a:rPr>
              <a:t>full ICR and PAD corpus behind the lessons tool</a:t>
            </a:r>
          </a:p>
          <a:p>
            <a:pPr algn="l">
              <a:spcAft>
                <a:spcPts val="300"/>
              </a:spcAft>
            </a:pPr>
            <a:r>
              <a:rPr sz="1300" b="1">
                <a:solidFill>
                  <a:srgbClr val="0F766E"/>
                </a:solidFill>
                <a:latin typeface="Calibri"/>
              </a:rPr>
              <a:t>•  </a:t>
            </a:r>
            <a:r>
              <a:rPr sz="1300" b="0">
                <a:solidFill>
                  <a:srgbClr val="1F2937"/>
                </a:solidFill>
                <a:latin typeface="Calibri"/>
              </a:rPr>
              <a:t>amendment feed and a tender-package entity</a:t>
            </a:r>
          </a:p>
          <a:p>
            <a:pPr algn="l">
              <a:spcAft>
                <a:spcPts val="300"/>
              </a:spcAft>
            </a:pPr>
            <a:r>
              <a:rPr sz="1300" b="1">
                <a:solidFill>
                  <a:srgbClr val="0F766E"/>
                </a:solidFill>
                <a:latin typeface="Calibri"/>
              </a:rPr>
              <a:t>•  </a:t>
            </a:r>
            <a:r>
              <a:rPr sz="1300" b="0">
                <a:solidFill>
                  <a:srgbClr val="1F2937"/>
                </a:solidFill>
                <a:latin typeface="Calibri"/>
              </a:rPr>
              <a:t>labelled evaluation set with specialists; shadow mode</a:t>
            </a:r>
          </a:p>
        </p:txBody>
      </p:sp>
      <p:sp>
        <p:nvSpPr>
          <p:cNvPr id="20" name="TextBox 19"/>
          <p:cNvSpPr txBox="1"/>
          <p:nvPr/>
        </p:nvSpPr>
        <p:spPr>
          <a:xfrm>
            <a:off x="457200" y="6473952"/>
            <a:ext cx="8229600" cy="274320"/>
          </a:xfrm>
          <a:prstGeom prst="rect">
            <a:avLst/>
          </a:prstGeom>
          <a:noFill/>
        </p:spPr>
        <p:txBody>
          <a:bodyPr wrap="square" anchor="t" lIns="36576" rIns="36576" tIns="18288" bIns="18288">
            <a:spAutoFit/>
          </a:bodyPr>
          <a:lstStyle/>
          <a:p>
            <a:pPr algn="l">
              <a:spcAft>
                <a:spcPts val="400"/>
              </a:spcAft>
            </a:pPr>
            <a:r>
              <a:rPr sz="1000" b="0">
                <a:solidFill>
                  <a:srgbClr val="5B6472"/>
                </a:solidFill>
                <a:latin typeface="Calibri"/>
              </a:rPr>
              <a:t>Procurement Intelligence Platform  |  prototype on World Bank open data, Azure Databricks</a:t>
            </a:r>
          </a:p>
        </p:txBody>
      </p:sp>
      <p:sp>
        <p:nvSpPr>
          <p:cNvPr id="21" name="TextBox 20"/>
          <p:cNvSpPr txBox="1"/>
          <p:nvPr/>
        </p:nvSpPr>
        <p:spPr>
          <a:xfrm>
            <a:off x="10972800" y="6473952"/>
            <a:ext cx="758952" cy="274320"/>
          </a:xfrm>
          <a:prstGeom prst="rect">
            <a:avLst/>
          </a:prstGeom>
          <a:noFill/>
        </p:spPr>
        <p:txBody>
          <a:bodyPr wrap="square" anchor="t" lIns="36576" rIns="36576" tIns="18288" bIns="18288">
            <a:spAutoFit/>
          </a:bodyPr>
          <a:lstStyle/>
          <a:p>
            <a:pPr algn="r">
              <a:spcAft>
                <a:spcPts val="400"/>
              </a:spcAft>
            </a:pPr>
            <a:r>
              <a:rPr sz="1000" b="0">
                <a:solidFill>
                  <a:srgbClr val="5B6472"/>
                </a:solidFill>
                <a:latin typeface="Calibri"/>
              </a:rPr>
              <a:t>5 /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